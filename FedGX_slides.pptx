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7559675" cy="10691813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9"/>
  </p:normalViewPr>
  <p:slideViewPr>
    <p:cSldViewPr snapToGrid="0">
      <p:cViewPr>
        <p:scale>
          <a:sx n="81" d="100"/>
          <a:sy n="81" d="100"/>
        </p:scale>
        <p:origin x="55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AE12-6766-BD42-8D9C-991DBF7787FB}" type="datetimeFigureOut">
              <a:rPr lang="en-SE" smtClean="0"/>
              <a:t>2026-09-18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9F495-CCF1-9F4D-9743-E4F247FE0F6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7793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9F495-CCF1-9F4D-9743-E4F247FE0F6E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6968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720" y="1725564"/>
            <a:ext cx="7634280" cy="11079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7200" b="1" u="none" strike="noStrike" dirty="0" err="1">
                <a:solidFill>
                  <a:srgbClr val="224466"/>
                </a:solidFill>
                <a:effectLst/>
                <a:uFillTx/>
                <a:latin typeface="+mj-lt"/>
                <a:ea typeface=".SFNS-Regular_wdth_opsz2E6666_GRAD_wght2580000"/>
              </a:rPr>
              <a:t>FedGX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7720" y="2833560"/>
            <a:ext cx="4770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.SFNS-Regular_wdth_opsz1FE65F_GRAD_wght2580000"/>
                <a:ea typeface=".SFNS-Regular_wdth_opsz1FE65F_GRAD_wght2580000"/>
              </a:rPr>
              <a:t>Federated GWAS Across Cohort Sites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641718" y="264051"/>
            <a:ext cx="15019204" cy="830413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747720" y="3401280"/>
            <a:ext cx="42991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Nordic Biobank × NVIDIA Hackathon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033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FD9B9B-1032-899E-91B3-8572A8EF820C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5158087" y="-3393955"/>
            <a:ext cx="11467185" cy="6052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Freeform 16"/>
          <p:cNvSpPr/>
          <p:nvPr/>
        </p:nvSpPr>
        <p:spPr>
          <a:xfrm>
            <a:off x="1066680" y="27810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6" y="60"/>
                  <a:pt x="25" y="47"/>
                  <a:pt x="36" y="36"/>
                </a:cubicBezTo>
                <a:cubicBezTo>
                  <a:pt x="47" y="25"/>
                  <a:pt x="60" y="16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7720" y="1926720"/>
            <a:ext cx="19130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The problem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1066680" y="32670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00320" y="2658240"/>
            <a:ext cx="89744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Genome-wide association studies need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large, diverse cohorts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to find real signal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00320" y="3143880"/>
            <a:ext cx="4217437" cy="333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dirty="0">
                <a:solidFill>
                  <a:srgbClr val="1F2328"/>
                </a:solidFill>
                <a:latin typeface=".SFNS-Regular_wdth_opsz1D0000_GRAD_wght"/>
                <a:ea typeface=".SFNS-Regular_wdth_opsz1D0000_GRAD_wght"/>
              </a:rPr>
              <a:t>Privacy</a:t>
            </a:r>
            <a:r>
              <a:rPr lang="en-US" sz="2170" b="0" u="none" strike="noStrike" dirty="0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governance, legal restrictions</a:t>
            </a:r>
            <a:endParaRPr lang="en-US" sz="21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1052705" y="3756993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00320" y="3623760"/>
            <a:ext cx="8818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 dirty="0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Result: most GWAS run on a single biobank, missing ancestries it doesn't have</a:t>
            </a:r>
            <a:endParaRPr lang="en-US" sz="21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7720" y="4610880"/>
            <a:ext cx="8860054" cy="333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 dirty="0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Question: </a:t>
            </a:r>
            <a:r>
              <a:rPr lang="en-US" sz="2170" dirty="0">
                <a:solidFill>
                  <a:srgbClr val="1F2328"/>
                </a:solidFill>
                <a:latin typeface=".SFNS-Regular_wdth_opsz1D0000_GRAD_wght"/>
                <a:ea typeface=".SFNS-Regular_wdth_opsz1D0000_GRAD_wght2580000"/>
              </a:rPr>
              <a:t>C</a:t>
            </a:r>
            <a:r>
              <a:rPr lang="en-US" sz="2170" b="0" u="none" strike="noStrike" dirty="0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an we analyze across sites without centralizing the raw genotypes?</a:t>
            </a:r>
            <a:endParaRPr lang="en-US" sz="21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745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839C5-0584-AA00-F8A9-F6E661597AF0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-5679645" y="4932000"/>
            <a:ext cx="11467185" cy="605219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7720" y="1603080"/>
            <a:ext cx="21754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What we built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720" y="2343960"/>
            <a:ext cx="6077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FedGX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— a federated GWAS pipeline where each site: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19520" y="2905920"/>
            <a:ext cx="39949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1. Keeps its genotypes local, always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9520" y="3391560"/>
            <a:ext cx="53514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2. Runs its own association analysis (REGENIE)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9520" y="3877200"/>
            <a:ext cx="58359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3. Sends only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summary statistics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to a central server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9520" y="4363200"/>
            <a:ext cx="5231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4. Gets combined via meta-analysis (GWAMA)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7720" y="4925160"/>
            <a:ext cx="79794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Built on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NVIDIA FLARE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, extending the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FedGen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hackathon scaffolding.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76876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D971CF-0700-1E95-5360-1D6E7FE8E3BC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4737420" y="-682138"/>
            <a:ext cx="11467185" cy="605219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-120" y="-9828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1389960" y="1254960"/>
            <a:ext cx="8571960" cy="48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747720" y="783720"/>
            <a:ext cx="19195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Architecture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7720" y="6097247"/>
            <a:ext cx="98564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 dirty="0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3 sites, 1 ancestry proxy each (EUR / EAS / AFR) — nothing but summary statistics ever</a:t>
            </a:r>
            <a:endParaRPr lang="en-US" sz="21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7655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B33C5C-95FF-372B-0A1B-D8A276C98104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4737420" y="-682138"/>
            <a:ext cx="11467185" cy="6052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Freeform 47"/>
          <p:cNvSpPr/>
          <p:nvPr/>
        </p:nvSpPr>
        <p:spPr>
          <a:xfrm>
            <a:off x="752400" y="2171520"/>
            <a:ext cx="2314800" cy="533880"/>
          </a:xfrm>
          <a:custGeom>
            <a:avLst/>
            <a:gdLst/>
            <a:ahLst/>
            <a:cxnLst/>
            <a:rect l="0" t="0" r="r" b="b"/>
            <a:pathLst>
              <a:path w="6430" h="1483">
                <a:moveTo>
                  <a:pt x="0" y="0"/>
                </a:moveTo>
                <a:lnTo>
                  <a:pt x="6430" y="0"/>
                </a:lnTo>
                <a:lnTo>
                  <a:pt x="64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3066840" y="2171520"/>
            <a:ext cx="7401240" cy="533880"/>
          </a:xfrm>
          <a:custGeom>
            <a:avLst/>
            <a:gdLst/>
            <a:ahLst/>
            <a:cxnLst/>
            <a:rect l="0" t="0" r="r" b="b"/>
            <a:pathLst>
              <a:path w="20559" h="1483">
                <a:moveTo>
                  <a:pt x="0" y="0"/>
                </a:moveTo>
                <a:lnTo>
                  <a:pt x="20559" y="0"/>
                </a:lnTo>
                <a:lnTo>
                  <a:pt x="205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752400" y="2705040"/>
            <a:ext cx="2314800" cy="543240"/>
          </a:xfrm>
          <a:custGeom>
            <a:avLst/>
            <a:gdLst/>
            <a:ahLst/>
            <a:cxnLst/>
            <a:rect l="0" t="0" r="r" b="b"/>
            <a:pathLst>
              <a:path w="6430" h="1509">
                <a:moveTo>
                  <a:pt x="0" y="0"/>
                </a:moveTo>
                <a:lnTo>
                  <a:pt x="6430" y="0"/>
                </a:lnTo>
                <a:lnTo>
                  <a:pt x="64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3066840" y="2705040"/>
            <a:ext cx="7401240" cy="543240"/>
          </a:xfrm>
          <a:custGeom>
            <a:avLst/>
            <a:gdLst/>
            <a:ahLst/>
            <a:cxnLst/>
            <a:rect l="0" t="0" r="r" b="b"/>
            <a:pathLst>
              <a:path w="20559" h="1509">
                <a:moveTo>
                  <a:pt x="0" y="0"/>
                </a:moveTo>
                <a:lnTo>
                  <a:pt x="20559" y="0"/>
                </a:lnTo>
                <a:lnTo>
                  <a:pt x="205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752400" y="3247920"/>
            <a:ext cx="2314800" cy="533520"/>
          </a:xfrm>
          <a:custGeom>
            <a:avLst/>
            <a:gdLst/>
            <a:ahLst/>
            <a:cxnLst/>
            <a:rect l="0" t="0" r="r" b="b"/>
            <a:pathLst>
              <a:path w="6430" h="1482">
                <a:moveTo>
                  <a:pt x="0" y="0"/>
                </a:moveTo>
                <a:lnTo>
                  <a:pt x="6430" y="0"/>
                </a:lnTo>
                <a:lnTo>
                  <a:pt x="64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3066840" y="3247920"/>
            <a:ext cx="7401240" cy="533520"/>
          </a:xfrm>
          <a:custGeom>
            <a:avLst/>
            <a:gdLst/>
            <a:ahLst/>
            <a:cxnLst/>
            <a:rect l="0" t="0" r="r" b="b"/>
            <a:pathLst>
              <a:path w="20559" h="1482">
                <a:moveTo>
                  <a:pt x="0" y="0"/>
                </a:moveTo>
                <a:lnTo>
                  <a:pt x="20559" y="0"/>
                </a:lnTo>
                <a:lnTo>
                  <a:pt x="205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752400" y="3781080"/>
            <a:ext cx="2314800" cy="543600"/>
          </a:xfrm>
          <a:custGeom>
            <a:avLst/>
            <a:gdLst/>
            <a:ahLst/>
            <a:cxnLst/>
            <a:rect l="0" t="0" r="r" b="b"/>
            <a:pathLst>
              <a:path w="6430" h="1510">
                <a:moveTo>
                  <a:pt x="0" y="0"/>
                </a:moveTo>
                <a:lnTo>
                  <a:pt x="6430" y="0"/>
                </a:lnTo>
                <a:lnTo>
                  <a:pt x="643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reeform 54"/>
          <p:cNvSpPr/>
          <p:nvPr/>
        </p:nvSpPr>
        <p:spPr>
          <a:xfrm>
            <a:off x="3066840" y="3781080"/>
            <a:ext cx="7401240" cy="543600"/>
          </a:xfrm>
          <a:custGeom>
            <a:avLst/>
            <a:gdLst/>
            <a:ahLst/>
            <a:cxnLst/>
            <a:rect l="0" t="0" r="r" b="b"/>
            <a:pathLst>
              <a:path w="20559" h="1510">
                <a:moveTo>
                  <a:pt x="0" y="0"/>
                </a:moveTo>
                <a:lnTo>
                  <a:pt x="20559" y="0"/>
                </a:lnTo>
                <a:lnTo>
                  <a:pt x="20559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752400" y="4324320"/>
            <a:ext cx="2314800" cy="533520"/>
          </a:xfrm>
          <a:custGeom>
            <a:avLst/>
            <a:gdLst/>
            <a:ahLst/>
            <a:cxnLst/>
            <a:rect l="0" t="0" r="r" b="b"/>
            <a:pathLst>
              <a:path w="6430" h="1482">
                <a:moveTo>
                  <a:pt x="0" y="0"/>
                </a:moveTo>
                <a:lnTo>
                  <a:pt x="6430" y="0"/>
                </a:lnTo>
                <a:lnTo>
                  <a:pt x="64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3066840" y="4324320"/>
            <a:ext cx="7401240" cy="533520"/>
          </a:xfrm>
          <a:custGeom>
            <a:avLst/>
            <a:gdLst/>
            <a:ahLst/>
            <a:cxnLst/>
            <a:rect l="0" t="0" r="r" b="b"/>
            <a:pathLst>
              <a:path w="20559" h="1482">
                <a:moveTo>
                  <a:pt x="0" y="0"/>
                </a:moveTo>
                <a:lnTo>
                  <a:pt x="20559" y="0"/>
                </a:lnTo>
                <a:lnTo>
                  <a:pt x="2055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752400" y="4857480"/>
            <a:ext cx="2314800" cy="543240"/>
          </a:xfrm>
          <a:custGeom>
            <a:avLst/>
            <a:gdLst/>
            <a:ahLst/>
            <a:cxnLst/>
            <a:rect l="0" t="0" r="r" b="b"/>
            <a:pathLst>
              <a:path w="6430" h="1509">
                <a:moveTo>
                  <a:pt x="0" y="0"/>
                </a:moveTo>
                <a:lnTo>
                  <a:pt x="6430" y="0"/>
                </a:lnTo>
                <a:lnTo>
                  <a:pt x="64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reeform 58"/>
          <p:cNvSpPr/>
          <p:nvPr/>
        </p:nvSpPr>
        <p:spPr>
          <a:xfrm>
            <a:off x="3066840" y="4857480"/>
            <a:ext cx="7401240" cy="543240"/>
          </a:xfrm>
          <a:custGeom>
            <a:avLst/>
            <a:gdLst/>
            <a:ahLst/>
            <a:cxnLst/>
            <a:rect l="0" t="0" r="r" b="b"/>
            <a:pathLst>
              <a:path w="20559" h="1509">
                <a:moveTo>
                  <a:pt x="0" y="0"/>
                </a:moveTo>
                <a:lnTo>
                  <a:pt x="20559" y="0"/>
                </a:lnTo>
                <a:lnTo>
                  <a:pt x="205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reeform 59"/>
          <p:cNvSpPr/>
          <p:nvPr/>
        </p:nvSpPr>
        <p:spPr>
          <a:xfrm>
            <a:off x="752400" y="21621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752400" y="2162160"/>
            <a:ext cx="2314800" cy="9720"/>
          </a:xfrm>
          <a:custGeom>
            <a:avLst/>
            <a:gdLst/>
            <a:ahLst/>
            <a:cxnLst/>
            <a:rect l="0" t="0" r="r" b="b"/>
            <a:pathLst>
              <a:path w="6430" h="27">
                <a:moveTo>
                  <a:pt x="0" y="0"/>
                </a:moveTo>
                <a:lnTo>
                  <a:pt x="6430" y="0"/>
                </a:lnTo>
                <a:lnTo>
                  <a:pt x="6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reeform 61"/>
          <p:cNvSpPr/>
          <p:nvPr/>
        </p:nvSpPr>
        <p:spPr>
          <a:xfrm>
            <a:off x="3057480" y="21621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3066840" y="2162160"/>
            <a:ext cx="7410960" cy="9720"/>
          </a:xfrm>
          <a:custGeom>
            <a:avLst/>
            <a:gdLst/>
            <a:ahLst/>
            <a:cxnLst/>
            <a:rect l="0" t="0" r="r" b="b"/>
            <a:pathLst>
              <a:path w="20586" h="27">
                <a:moveTo>
                  <a:pt x="0" y="0"/>
                </a:moveTo>
                <a:lnTo>
                  <a:pt x="20586" y="0"/>
                </a:lnTo>
                <a:lnTo>
                  <a:pt x="205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10467720" y="216216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752400" y="2705040"/>
            <a:ext cx="2314800" cy="9720"/>
          </a:xfrm>
          <a:custGeom>
            <a:avLst/>
            <a:gdLst/>
            <a:ahLst/>
            <a:cxnLst/>
            <a:rect l="0" t="0" r="r" b="b"/>
            <a:pathLst>
              <a:path w="6430" h="27">
                <a:moveTo>
                  <a:pt x="0" y="0"/>
                </a:moveTo>
                <a:lnTo>
                  <a:pt x="6430" y="0"/>
                </a:lnTo>
                <a:lnTo>
                  <a:pt x="6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3066840" y="2705040"/>
            <a:ext cx="7410960" cy="9720"/>
          </a:xfrm>
          <a:custGeom>
            <a:avLst/>
            <a:gdLst/>
            <a:ahLst/>
            <a:cxnLst/>
            <a:rect l="0" t="0" r="r" b="b"/>
            <a:pathLst>
              <a:path w="20586" h="27">
                <a:moveTo>
                  <a:pt x="0" y="0"/>
                </a:moveTo>
                <a:lnTo>
                  <a:pt x="20586" y="0"/>
                </a:lnTo>
                <a:lnTo>
                  <a:pt x="205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752400" y="27144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reeform 67"/>
          <p:cNvSpPr/>
          <p:nvPr/>
        </p:nvSpPr>
        <p:spPr>
          <a:xfrm>
            <a:off x="3057480" y="27144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reeform 68"/>
          <p:cNvSpPr/>
          <p:nvPr/>
        </p:nvSpPr>
        <p:spPr>
          <a:xfrm>
            <a:off x="10467720" y="27144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752400" y="3247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reeform 70"/>
          <p:cNvSpPr/>
          <p:nvPr/>
        </p:nvSpPr>
        <p:spPr>
          <a:xfrm>
            <a:off x="752400" y="3238200"/>
            <a:ext cx="2314800" cy="10080"/>
          </a:xfrm>
          <a:custGeom>
            <a:avLst/>
            <a:gdLst/>
            <a:ahLst/>
            <a:cxnLst/>
            <a:rect l="0" t="0" r="r" b="b"/>
            <a:pathLst>
              <a:path w="6430" h="28">
                <a:moveTo>
                  <a:pt x="0" y="0"/>
                </a:moveTo>
                <a:lnTo>
                  <a:pt x="6430" y="0"/>
                </a:lnTo>
                <a:lnTo>
                  <a:pt x="64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reeform 71"/>
          <p:cNvSpPr/>
          <p:nvPr/>
        </p:nvSpPr>
        <p:spPr>
          <a:xfrm>
            <a:off x="3057480" y="3247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reeform 72"/>
          <p:cNvSpPr/>
          <p:nvPr/>
        </p:nvSpPr>
        <p:spPr>
          <a:xfrm>
            <a:off x="3066840" y="3238200"/>
            <a:ext cx="7410960" cy="10080"/>
          </a:xfrm>
          <a:custGeom>
            <a:avLst/>
            <a:gdLst/>
            <a:ahLst/>
            <a:cxnLst/>
            <a:rect l="0" t="0" r="r" b="b"/>
            <a:pathLst>
              <a:path w="20586" h="28">
                <a:moveTo>
                  <a:pt x="0" y="0"/>
                </a:moveTo>
                <a:lnTo>
                  <a:pt x="20586" y="0"/>
                </a:lnTo>
                <a:lnTo>
                  <a:pt x="205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reeform 73"/>
          <p:cNvSpPr/>
          <p:nvPr/>
        </p:nvSpPr>
        <p:spPr>
          <a:xfrm>
            <a:off x="10467720" y="32479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reeform 74"/>
          <p:cNvSpPr/>
          <p:nvPr/>
        </p:nvSpPr>
        <p:spPr>
          <a:xfrm>
            <a:off x="752400" y="37908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752400" y="3781080"/>
            <a:ext cx="2314800" cy="10080"/>
          </a:xfrm>
          <a:custGeom>
            <a:avLst/>
            <a:gdLst/>
            <a:ahLst/>
            <a:cxnLst/>
            <a:rect l="0" t="0" r="r" b="b"/>
            <a:pathLst>
              <a:path w="6430" h="28">
                <a:moveTo>
                  <a:pt x="0" y="0"/>
                </a:moveTo>
                <a:lnTo>
                  <a:pt x="6430" y="0"/>
                </a:lnTo>
                <a:lnTo>
                  <a:pt x="64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3057480" y="37908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3066840" y="3781080"/>
            <a:ext cx="7410960" cy="10080"/>
          </a:xfrm>
          <a:custGeom>
            <a:avLst/>
            <a:gdLst/>
            <a:ahLst/>
            <a:cxnLst/>
            <a:rect l="0" t="0" r="r" b="b"/>
            <a:pathLst>
              <a:path w="20586" h="28">
                <a:moveTo>
                  <a:pt x="0" y="0"/>
                </a:moveTo>
                <a:lnTo>
                  <a:pt x="20586" y="0"/>
                </a:lnTo>
                <a:lnTo>
                  <a:pt x="205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reeform 78"/>
          <p:cNvSpPr/>
          <p:nvPr/>
        </p:nvSpPr>
        <p:spPr>
          <a:xfrm>
            <a:off x="10467720" y="37908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reeform 79"/>
          <p:cNvSpPr/>
          <p:nvPr/>
        </p:nvSpPr>
        <p:spPr>
          <a:xfrm>
            <a:off x="752400" y="43243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reeform 80"/>
          <p:cNvSpPr/>
          <p:nvPr/>
        </p:nvSpPr>
        <p:spPr>
          <a:xfrm>
            <a:off x="752400" y="4314600"/>
            <a:ext cx="2314800" cy="10080"/>
          </a:xfrm>
          <a:custGeom>
            <a:avLst/>
            <a:gdLst/>
            <a:ahLst/>
            <a:cxnLst/>
            <a:rect l="0" t="0" r="r" b="b"/>
            <a:pathLst>
              <a:path w="6430" h="28">
                <a:moveTo>
                  <a:pt x="0" y="0"/>
                </a:moveTo>
                <a:lnTo>
                  <a:pt x="6430" y="0"/>
                </a:lnTo>
                <a:lnTo>
                  <a:pt x="64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057480" y="43243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reeform 82"/>
          <p:cNvSpPr/>
          <p:nvPr/>
        </p:nvSpPr>
        <p:spPr>
          <a:xfrm>
            <a:off x="3066840" y="4314600"/>
            <a:ext cx="7410960" cy="10080"/>
          </a:xfrm>
          <a:custGeom>
            <a:avLst/>
            <a:gdLst/>
            <a:ahLst/>
            <a:cxnLst/>
            <a:rect l="0" t="0" r="r" b="b"/>
            <a:pathLst>
              <a:path w="20586" h="28">
                <a:moveTo>
                  <a:pt x="0" y="0"/>
                </a:moveTo>
                <a:lnTo>
                  <a:pt x="20586" y="0"/>
                </a:lnTo>
                <a:lnTo>
                  <a:pt x="205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reeform 83"/>
          <p:cNvSpPr/>
          <p:nvPr/>
        </p:nvSpPr>
        <p:spPr>
          <a:xfrm>
            <a:off x="10467720" y="43243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reeform 84"/>
          <p:cNvSpPr/>
          <p:nvPr/>
        </p:nvSpPr>
        <p:spPr>
          <a:xfrm>
            <a:off x="752400" y="486720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reeform 85"/>
          <p:cNvSpPr/>
          <p:nvPr/>
        </p:nvSpPr>
        <p:spPr>
          <a:xfrm>
            <a:off x="752400" y="4857480"/>
            <a:ext cx="2314800" cy="10080"/>
          </a:xfrm>
          <a:custGeom>
            <a:avLst/>
            <a:gdLst/>
            <a:ahLst/>
            <a:cxnLst/>
            <a:rect l="0" t="0" r="r" b="b"/>
            <a:pathLst>
              <a:path w="6430" h="28">
                <a:moveTo>
                  <a:pt x="0" y="0"/>
                </a:moveTo>
                <a:lnTo>
                  <a:pt x="6430" y="0"/>
                </a:lnTo>
                <a:lnTo>
                  <a:pt x="64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reeform 86"/>
          <p:cNvSpPr/>
          <p:nvPr/>
        </p:nvSpPr>
        <p:spPr>
          <a:xfrm>
            <a:off x="3057480" y="486720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3066840" y="4857480"/>
            <a:ext cx="7410960" cy="10080"/>
          </a:xfrm>
          <a:custGeom>
            <a:avLst/>
            <a:gdLst/>
            <a:ahLst/>
            <a:cxnLst/>
            <a:rect l="0" t="0" r="r" b="b"/>
            <a:pathLst>
              <a:path w="20586" h="28">
                <a:moveTo>
                  <a:pt x="0" y="0"/>
                </a:moveTo>
                <a:lnTo>
                  <a:pt x="20586" y="0"/>
                </a:lnTo>
                <a:lnTo>
                  <a:pt x="205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reeform 88"/>
          <p:cNvSpPr/>
          <p:nvPr/>
        </p:nvSpPr>
        <p:spPr>
          <a:xfrm>
            <a:off x="10467720" y="486720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reeform 89"/>
          <p:cNvSpPr/>
          <p:nvPr/>
        </p:nvSpPr>
        <p:spPr>
          <a:xfrm>
            <a:off x="752400" y="5391000"/>
            <a:ext cx="2314800" cy="9720"/>
          </a:xfrm>
          <a:custGeom>
            <a:avLst/>
            <a:gdLst/>
            <a:ahLst/>
            <a:cxnLst/>
            <a:rect l="0" t="0" r="r" b="b"/>
            <a:pathLst>
              <a:path w="6430" h="27">
                <a:moveTo>
                  <a:pt x="0" y="0"/>
                </a:moveTo>
                <a:lnTo>
                  <a:pt x="6430" y="0"/>
                </a:lnTo>
                <a:lnTo>
                  <a:pt x="64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3066840" y="5391000"/>
            <a:ext cx="7410960" cy="9720"/>
          </a:xfrm>
          <a:custGeom>
            <a:avLst/>
            <a:gdLst/>
            <a:ahLst/>
            <a:cxnLst/>
            <a:rect l="0" t="0" r="r" b="b"/>
            <a:pathLst>
              <a:path w="20586" h="27">
                <a:moveTo>
                  <a:pt x="0" y="0"/>
                </a:moveTo>
                <a:lnTo>
                  <a:pt x="20586" y="0"/>
                </a:lnTo>
                <a:lnTo>
                  <a:pt x="205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47720" y="1488600"/>
            <a:ext cx="35179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Pipeline, stage by stage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540800" y="2286720"/>
            <a:ext cx="619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Stage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854680" y="2286720"/>
            <a:ext cx="1685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What happens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80920" y="2829600"/>
            <a:ext cx="1870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1. Synthetic data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194280" y="2829600"/>
            <a:ext cx="62935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LDAK generates 3 sites' genotypes + phenotypes locally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0920" y="3363120"/>
            <a:ext cx="19346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2. Per-site GWAS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194280" y="3363120"/>
            <a:ext cx="69325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REGENIE step 1 + 2, then QC/standardize to GWAMA format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80920" y="3906000"/>
            <a:ext cx="1456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3. Federation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194280" y="3906000"/>
            <a:ext cx="6405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NVFLARE client sends the standardized file to the server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80920" y="4439520"/>
            <a:ext cx="18259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4. Meta-analysis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194280" y="4439520"/>
            <a:ext cx="62096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GWAMA combines all sites — fixed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and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random effects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80920" y="4982400"/>
            <a:ext cx="17337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5. Visualization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194280" y="4982400"/>
            <a:ext cx="59594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Matched Manhattan plots + an interactive dashboard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177056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1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reeform 1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reeform 1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47720" y="1402920"/>
            <a:ext cx="56613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Synthetic data: not just random noise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reeform 109"/>
          <p:cNvSpPr/>
          <p:nvPr/>
        </p:nvSpPr>
        <p:spPr>
          <a:xfrm>
            <a:off x="1066680" y="28288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9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47720" y="2134440"/>
            <a:ext cx="89946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To make the meta-analysis meaningful, the 3 sites share a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master SNP grid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and: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reeform 111"/>
          <p:cNvSpPr/>
          <p:nvPr/>
        </p:nvSpPr>
        <p:spPr>
          <a:xfrm>
            <a:off x="1066680" y="33051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4"/>
                  <a:pt x="36" y="203"/>
                </a:cubicBezTo>
                <a:cubicBezTo>
                  <a:pt x="25" y="192"/>
                  <a:pt x="16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6" y="58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300320" y="2705760"/>
            <a:ext cx="86414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12 causal variants shared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across all 3 sites (with ancestry-scaled effect sizes)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reeform 113"/>
          <p:cNvSpPr/>
          <p:nvPr/>
        </p:nvSpPr>
        <p:spPr>
          <a:xfrm>
            <a:off x="1066680" y="3790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300320" y="3182040"/>
            <a:ext cx="41706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8 causal variants unique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to each site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reeform 115"/>
          <p:cNvSpPr/>
          <p:nvPr/>
        </p:nvSpPr>
        <p:spPr>
          <a:xfrm>
            <a:off x="1066680" y="427644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300320" y="3667680"/>
            <a:ext cx="60285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Different MAF spectra per site (EUR/EAS/AFR proxy)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300320" y="4153680"/>
            <a:ext cx="79380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Different heritability, sample size, and population substructure per site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47720" y="4715640"/>
            <a:ext cx="100479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This produces realistic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heterogeneity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— the same signal, weakened or shifted by ancestry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47720" y="5134680"/>
            <a:ext cx="58237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— instead of a toy case where every site is identical.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17637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1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Freeform 1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Freeform 1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reeform 140"/>
          <p:cNvSpPr/>
          <p:nvPr/>
        </p:nvSpPr>
        <p:spPr>
          <a:xfrm>
            <a:off x="1066680" y="16380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6"/>
                  <a:pt x="36" y="205"/>
                </a:cubicBezTo>
                <a:cubicBezTo>
                  <a:pt x="25" y="193"/>
                  <a:pt x="16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747720" y="783720"/>
            <a:ext cx="34848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Results &amp; visualization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300320" y="1515240"/>
            <a:ext cx="9523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Matched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Manhattan plots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for fixed- and random-effects results, same axis scale, side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reeform 143"/>
          <p:cNvSpPr/>
          <p:nvPr/>
        </p:nvSpPr>
        <p:spPr>
          <a:xfrm>
            <a:off x="1066680" y="2533320"/>
            <a:ext cx="86040" cy="86400"/>
          </a:xfrm>
          <a:custGeom>
            <a:avLst/>
            <a:gdLst/>
            <a:ahLst/>
            <a:cxn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9" y="237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6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300320" y="1924920"/>
            <a:ext cx="7912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by side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reeform 145"/>
          <p:cNvSpPr/>
          <p:nvPr/>
        </p:nvSpPr>
        <p:spPr>
          <a:xfrm>
            <a:off x="4571640" y="2390760"/>
            <a:ext cx="2877120" cy="371520"/>
          </a:xfrm>
          <a:custGeom>
            <a:avLst/>
            <a:gdLst/>
            <a:ahLst/>
            <a:cxnLst/>
            <a:rect l="0" t="0" r="r" b="b"/>
            <a:pathLst>
              <a:path w="7992" h="1032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2" y="139"/>
                  <a:pt x="4" y="128"/>
                </a:cubicBezTo>
                <a:cubicBezTo>
                  <a:pt x="6" y="118"/>
                  <a:pt x="9" y="108"/>
                  <a:pt x="13" y="99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7833" y="0"/>
                </a:lnTo>
                <a:cubicBezTo>
                  <a:pt x="7844" y="0"/>
                  <a:pt x="7854" y="1"/>
                  <a:pt x="7864" y="3"/>
                </a:cubicBezTo>
                <a:cubicBezTo>
                  <a:pt x="7874" y="5"/>
                  <a:pt x="7884" y="8"/>
                  <a:pt x="7894" y="12"/>
                </a:cubicBezTo>
                <a:cubicBezTo>
                  <a:pt x="7904" y="16"/>
                  <a:pt x="7913" y="21"/>
                  <a:pt x="7921" y="26"/>
                </a:cubicBezTo>
                <a:cubicBezTo>
                  <a:pt x="7930" y="32"/>
                  <a:pt x="7938" y="39"/>
                  <a:pt x="7945" y="46"/>
                </a:cubicBezTo>
                <a:cubicBezTo>
                  <a:pt x="7953" y="53"/>
                  <a:pt x="7959" y="62"/>
                  <a:pt x="7965" y="71"/>
                </a:cubicBezTo>
                <a:cubicBezTo>
                  <a:pt x="7971" y="80"/>
                  <a:pt x="7976" y="89"/>
                  <a:pt x="7980" y="99"/>
                </a:cubicBezTo>
                <a:cubicBezTo>
                  <a:pt x="7984" y="108"/>
                  <a:pt x="7987" y="118"/>
                  <a:pt x="7989" y="128"/>
                </a:cubicBezTo>
                <a:cubicBezTo>
                  <a:pt x="7991" y="139"/>
                  <a:pt x="7992" y="149"/>
                  <a:pt x="7992" y="159"/>
                </a:cubicBezTo>
                <a:lnTo>
                  <a:pt x="7992" y="874"/>
                </a:lnTo>
                <a:cubicBezTo>
                  <a:pt x="7992" y="884"/>
                  <a:pt x="7991" y="894"/>
                  <a:pt x="7989" y="905"/>
                </a:cubicBezTo>
                <a:cubicBezTo>
                  <a:pt x="7987" y="915"/>
                  <a:pt x="7984" y="925"/>
                  <a:pt x="7980" y="934"/>
                </a:cubicBezTo>
                <a:cubicBezTo>
                  <a:pt x="7976" y="944"/>
                  <a:pt x="7971" y="953"/>
                  <a:pt x="7965" y="962"/>
                </a:cubicBezTo>
                <a:cubicBezTo>
                  <a:pt x="7959" y="971"/>
                  <a:pt x="7953" y="979"/>
                  <a:pt x="7945" y="986"/>
                </a:cubicBezTo>
                <a:cubicBezTo>
                  <a:pt x="7938" y="993"/>
                  <a:pt x="7930" y="1000"/>
                  <a:pt x="7921" y="1006"/>
                </a:cubicBezTo>
                <a:cubicBezTo>
                  <a:pt x="7913" y="1011"/>
                  <a:pt x="7904" y="1016"/>
                  <a:pt x="7894" y="1020"/>
                </a:cubicBezTo>
                <a:cubicBezTo>
                  <a:pt x="7884" y="1024"/>
                  <a:pt x="7874" y="1027"/>
                  <a:pt x="7864" y="1029"/>
                </a:cubicBezTo>
                <a:cubicBezTo>
                  <a:pt x="7854" y="1031"/>
                  <a:pt x="7844" y="1032"/>
                  <a:pt x="7833" y="1032"/>
                </a:cubicBezTo>
                <a:lnTo>
                  <a:pt x="159" y="1032"/>
                </a:lnTo>
                <a:cubicBezTo>
                  <a:pt x="149" y="1032"/>
                  <a:pt x="139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1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7" y="944"/>
                  <a:pt x="13" y="934"/>
                </a:cubicBezTo>
                <a:cubicBezTo>
                  <a:pt x="9" y="925"/>
                  <a:pt x="6" y="915"/>
                  <a:pt x="4" y="905"/>
                </a:cubicBezTo>
                <a:cubicBezTo>
                  <a:pt x="2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300320" y="2410560"/>
            <a:ext cx="30967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An 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interactive dashboard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(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670280" y="2446920"/>
            <a:ext cx="201888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fedx_dashboard.html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450200" y="2410560"/>
            <a:ext cx="38397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) built from real pipeline output —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reeform 149"/>
          <p:cNvSpPr/>
          <p:nvPr/>
        </p:nvSpPr>
        <p:spPr>
          <a:xfrm>
            <a:off x="1066680" y="3428640"/>
            <a:ext cx="86040" cy="86400"/>
          </a:xfrm>
          <a:custGeom>
            <a:avLst/>
            <a:gdLst/>
            <a:ahLst/>
            <a:cxn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5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9" y="237"/>
                  <a:pt x="74" y="231"/>
                </a:cubicBezTo>
                <a:cubicBezTo>
                  <a:pt x="60" y="225"/>
                  <a:pt x="47" y="216"/>
                  <a:pt x="36" y="205"/>
                </a:cubicBezTo>
                <a:cubicBezTo>
                  <a:pt x="25" y="194"/>
                  <a:pt x="16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7"/>
                  <a:pt x="36" y="35"/>
                </a:cubicBezTo>
                <a:cubicBezTo>
                  <a:pt x="47" y="24"/>
                  <a:pt x="60" y="16"/>
                  <a:pt x="74" y="10"/>
                </a:cubicBezTo>
                <a:cubicBezTo>
                  <a:pt x="89" y="4"/>
                  <a:pt x="104" y="0"/>
                  <a:pt x="120" y="0"/>
                </a:cubicBezTo>
                <a:cubicBezTo>
                  <a:pt x="136" y="0"/>
                  <a:pt x="151" y="4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7"/>
                  <a:pt x="224" y="59"/>
                  <a:pt x="230" y="74"/>
                </a:cubicBezTo>
                <a:cubicBezTo>
                  <a:pt x="236" y="89"/>
                  <a:pt x="239" y="104"/>
                  <a:pt x="239" y="12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00320" y="2829600"/>
            <a:ext cx="48002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no server needed, just open it in a browser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300320" y="3305880"/>
            <a:ext cx="77763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Full per-site QC trail: P-Z consistency, SE-vs-N consistency, QQ plots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7139E3-5824-7385-0798-7D7B32DADF8F}"/>
              </a:ext>
            </a:extLst>
          </p:cNvPr>
          <p:cNvPicPr/>
          <p:nvPr/>
        </p:nvPicPr>
        <p:blipFill>
          <a:blip r:embed="rId3">
            <a:alphaModFix amt="37000"/>
          </a:blip>
          <a:srcRect/>
          <a:stretch>
            <a:fillRect/>
          </a:stretch>
        </p:blipFill>
        <p:spPr>
          <a:xfrm>
            <a:off x="4900808" y="3471840"/>
            <a:ext cx="11467185" cy="6052195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Recording 2026-09-18 at 11.13.06">
            <a:hlinkClick r:id="" action="ppaction://media"/>
            <a:extLst>
              <a:ext uri="{FF2B5EF4-FFF2-40B4-BE49-F238E27FC236}">
                <a16:creationId xmlns:a16="http://schemas.microsoft.com/office/drawing/2014/main" id="{4CD58153-712E-90B5-C789-A2CD1755C7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3762"/>
          <a:stretch>
            <a:fillRect/>
          </a:stretch>
        </p:blipFill>
        <p:spPr>
          <a:xfrm>
            <a:off x="155640" y="279917"/>
            <a:ext cx="11880850" cy="643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6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66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65E1B8-5ACF-0CB4-2614-D6D5A5D376B1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747720" y="-829165"/>
            <a:ext cx="15620274" cy="85163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Freeform 159"/>
          <p:cNvSpPr/>
          <p:nvPr/>
        </p:nvSpPr>
        <p:spPr>
          <a:xfrm>
            <a:off x="752400" y="2104920"/>
            <a:ext cx="2610000" cy="124200"/>
          </a:xfrm>
          <a:custGeom>
            <a:avLst/>
            <a:gdLst/>
            <a:ahLst/>
            <a:cxnLst/>
            <a:rect l="0" t="0" r="r" b="b"/>
            <a:pathLst>
              <a:path w="7250" h="345">
                <a:moveTo>
                  <a:pt x="0" y="0"/>
                </a:moveTo>
                <a:lnTo>
                  <a:pt x="7250" y="0"/>
                </a:lnTo>
                <a:lnTo>
                  <a:pt x="7250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reeform 160"/>
          <p:cNvSpPr/>
          <p:nvPr/>
        </p:nvSpPr>
        <p:spPr>
          <a:xfrm>
            <a:off x="3362040" y="2104920"/>
            <a:ext cx="2400840" cy="124200"/>
          </a:xfrm>
          <a:custGeom>
            <a:avLst/>
            <a:gdLst/>
            <a:ahLst/>
            <a:cxnLst/>
            <a:rect l="0" t="0" r="r" b="b"/>
            <a:pathLst>
              <a:path w="6669" h="345">
                <a:moveTo>
                  <a:pt x="0" y="0"/>
                </a:moveTo>
                <a:lnTo>
                  <a:pt x="6669" y="0"/>
                </a:lnTo>
                <a:lnTo>
                  <a:pt x="6669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reeform 161"/>
          <p:cNvSpPr/>
          <p:nvPr/>
        </p:nvSpPr>
        <p:spPr>
          <a:xfrm>
            <a:off x="752400" y="2228760"/>
            <a:ext cx="2610000" cy="543240"/>
          </a:xfrm>
          <a:custGeom>
            <a:avLst/>
            <a:gdLst/>
            <a:ahLst/>
            <a:cxnLst/>
            <a:rect l="0" t="0" r="r" b="b"/>
            <a:pathLst>
              <a:path w="7250" h="1509">
                <a:moveTo>
                  <a:pt x="0" y="0"/>
                </a:moveTo>
                <a:lnTo>
                  <a:pt x="7250" y="0"/>
                </a:lnTo>
                <a:lnTo>
                  <a:pt x="7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reeform 162"/>
          <p:cNvSpPr/>
          <p:nvPr/>
        </p:nvSpPr>
        <p:spPr>
          <a:xfrm>
            <a:off x="3362040" y="2228760"/>
            <a:ext cx="2400840" cy="543240"/>
          </a:xfrm>
          <a:custGeom>
            <a:avLst/>
            <a:gdLst/>
            <a:ahLst/>
            <a:cxnLst/>
            <a:rect l="0" t="0" r="r" b="b"/>
            <a:pathLst>
              <a:path w="6669" h="1509">
                <a:moveTo>
                  <a:pt x="0" y="0"/>
                </a:moveTo>
                <a:lnTo>
                  <a:pt x="6669" y="0"/>
                </a:lnTo>
                <a:lnTo>
                  <a:pt x="66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reeform 163"/>
          <p:cNvSpPr/>
          <p:nvPr/>
        </p:nvSpPr>
        <p:spPr>
          <a:xfrm>
            <a:off x="752400" y="2771640"/>
            <a:ext cx="2610000" cy="533880"/>
          </a:xfrm>
          <a:custGeom>
            <a:avLst/>
            <a:gdLst/>
            <a:ahLst/>
            <a:cxnLst/>
            <a:rect l="0" t="0" r="r" b="b"/>
            <a:pathLst>
              <a:path w="7250" h="1483">
                <a:moveTo>
                  <a:pt x="0" y="0"/>
                </a:moveTo>
                <a:lnTo>
                  <a:pt x="7250" y="0"/>
                </a:lnTo>
                <a:lnTo>
                  <a:pt x="72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reeform 164"/>
          <p:cNvSpPr/>
          <p:nvPr/>
        </p:nvSpPr>
        <p:spPr>
          <a:xfrm>
            <a:off x="3362040" y="2771640"/>
            <a:ext cx="2400840" cy="533880"/>
          </a:xfrm>
          <a:custGeom>
            <a:avLst/>
            <a:gdLst/>
            <a:ahLst/>
            <a:cxnLst/>
            <a:rect l="0" t="0" r="r" b="b"/>
            <a:pathLst>
              <a:path w="6669" h="1483">
                <a:moveTo>
                  <a:pt x="0" y="0"/>
                </a:moveTo>
                <a:lnTo>
                  <a:pt x="6669" y="0"/>
                </a:lnTo>
                <a:lnTo>
                  <a:pt x="66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reeform 165"/>
          <p:cNvSpPr/>
          <p:nvPr/>
        </p:nvSpPr>
        <p:spPr>
          <a:xfrm>
            <a:off x="752400" y="3305160"/>
            <a:ext cx="2610000" cy="543240"/>
          </a:xfrm>
          <a:custGeom>
            <a:avLst/>
            <a:gdLst/>
            <a:ahLst/>
            <a:cxnLst/>
            <a:rect l="0" t="0" r="r" b="b"/>
            <a:pathLst>
              <a:path w="7250" h="1509">
                <a:moveTo>
                  <a:pt x="0" y="0"/>
                </a:moveTo>
                <a:lnTo>
                  <a:pt x="7250" y="0"/>
                </a:lnTo>
                <a:lnTo>
                  <a:pt x="7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reeform 166"/>
          <p:cNvSpPr/>
          <p:nvPr/>
        </p:nvSpPr>
        <p:spPr>
          <a:xfrm>
            <a:off x="3362040" y="3305160"/>
            <a:ext cx="2400840" cy="543240"/>
          </a:xfrm>
          <a:custGeom>
            <a:avLst/>
            <a:gdLst/>
            <a:ahLst/>
            <a:cxnLst/>
            <a:rect l="0" t="0" r="r" b="b"/>
            <a:pathLst>
              <a:path w="6669" h="1509">
                <a:moveTo>
                  <a:pt x="0" y="0"/>
                </a:moveTo>
                <a:lnTo>
                  <a:pt x="6669" y="0"/>
                </a:lnTo>
                <a:lnTo>
                  <a:pt x="66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reeform 167"/>
          <p:cNvSpPr/>
          <p:nvPr/>
        </p:nvSpPr>
        <p:spPr>
          <a:xfrm>
            <a:off x="752400" y="3848040"/>
            <a:ext cx="2610000" cy="533520"/>
          </a:xfrm>
          <a:custGeom>
            <a:avLst/>
            <a:gdLst/>
            <a:ahLst/>
            <a:cxnLst/>
            <a:rect l="0" t="0" r="r" b="b"/>
            <a:pathLst>
              <a:path w="7250" h="1482">
                <a:moveTo>
                  <a:pt x="0" y="0"/>
                </a:moveTo>
                <a:lnTo>
                  <a:pt x="7250" y="0"/>
                </a:lnTo>
                <a:lnTo>
                  <a:pt x="725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3362040" y="3848040"/>
            <a:ext cx="2400840" cy="533520"/>
          </a:xfrm>
          <a:custGeom>
            <a:avLst/>
            <a:gdLst/>
            <a:ahLst/>
            <a:cxnLst/>
            <a:rect l="0" t="0" r="r" b="b"/>
            <a:pathLst>
              <a:path w="6669" h="1482">
                <a:moveTo>
                  <a:pt x="0" y="0"/>
                </a:moveTo>
                <a:lnTo>
                  <a:pt x="6669" y="0"/>
                </a:lnTo>
                <a:lnTo>
                  <a:pt x="666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reeform 169"/>
          <p:cNvSpPr/>
          <p:nvPr/>
        </p:nvSpPr>
        <p:spPr>
          <a:xfrm>
            <a:off x="752400" y="4381200"/>
            <a:ext cx="2610000" cy="543240"/>
          </a:xfrm>
          <a:custGeom>
            <a:avLst/>
            <a:gdLst/>
            <a:ahLst/>
            <a:cxnLst/>
            <a:rect l="0" t="0" r="r" b="b"/>
            <a:pathLst>
              <a:path w="7250" h="1509">
                <a:moveTo>
                  <a:pt x="0" y="0"/>
                </a:moveTo>
                <a:lnTo>
                  <a:pt x="7250" y="0"/>
                </a:lnTo>
                <a:lnTo>
                  <a:pt x="7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reeform 170"/>
          <p:cNvSpPr/>
          <p:nvPr/>
        </p:nvSpPr>
        <p:spPr>
          <a:xfrm>
            <a:off x="3362040" y="4381200"/>
            <a:ext cx="2400840" cy="543240"/>
          </a:xfrm>
          <a:custGeom>
            <a:avLst/>
            <a:gdLst/>
            <a:ahLst/>
            <a:cxnLst/>
            <a:rect l="0" t="0" r="r" b="b"/>
            <a:pathLst>
              <a:path w="6669" h="1509">
                <a:moveTo>
                  <a:pt x="0" y="0"/>
                </a:moveTo>
                <a:lnTo>
                  <a:pt x="6669" y="0"/>
                </a:lnTo>
                <a:lnTo>
                  <a:pt x="66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reeform 171"/>
          <p:cNvSpPr/>
          <p:nvPr/>
        </p:nvSpPr>
        <p:spPr>
          <a:xfrm>
            <a:off x="752400" y="4924080"/>
            <a:ext cx="2610000" cy="533880"/>
          </a:xfrm>
          <a:custGeom>
            <a:avLst/>
            <a:gdLst/>
            <a:ahLst/>
            <a:cxnLst/>
            <a:rect l="0" t="0" r="r" b="b"/>
            <a:pathLst>
              <a:path w="7250" h="1483">
                <a:moveTo>
                  <a:pt x="0" y="0"/>
                </a:moveTo>
                <a:lnTo>
                  <a:pt x="7250" y="0"/>
                </a:lnTo>
                <a:lnTo>
                  <a:pt x="72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reeform 172"/>
          <p:cNvSpPr/>
          <p:nvPr/>
        </p:nvSpPr>
        <p:spPr>
          <a:xfrm>
            <a:off x="3362040" y="4924080"/>
            <a:ext cx="2400840" cy="533880"/>
          </a:xfrm>
          <a:custGeom>
            <a:avLst/>
            <a:gdLst/>
            <a:ahLst/>
            <a:cxnLst/>
            <a:rect l="0" t="0" r="r" b="b"/>
            <a:pathLst>
              <a:path w="6669" h="1483">
                <a:moveTo>
                  <a:pt x="0" y="0"/>
                </a:moveTo>
                <a:lnTo>
                  <a:pt x="6669" y="0"/>
                </a:lnTo>
                <a:lnTo>
                  <a:pt x="66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reeform 173"/>
          <p:cNvSpPr/>
          <p:nvPr/>
        </p:nvSpPr>
        <p:spPr>
          <a:xfrm>
            <a:off x="752400" y="2104920"/>
            <a:ext cx="9720" cy="133560"/>
          </a:xfrm>
          <a:custGeom>
            <a:avLst/>
            <a:gdLst/>
            <a:ahLst/>
            <a:cxnLst/>
            <a:rect l="0" t="0" r="r" b="b"/>
            <a:pathLst>
              <a:path w="27" h="371">
                <a:moveTo>
                  <a:pt x="0" y="0"/>
                </a:moveTo>
                <a:lnTo>
                  <a:pt x="27" y="0"/>
                </a:lnTo>
                <a:lnTo>
                  <a:pt x="27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752400" y="210492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reeform 175"/>
          <p:cNvSpPr/>
          <p:nvPr/>
        </p:nvSpPr>
        <p:spPr>
          <a:xfrm>
            <a:off x="3362040" y="2104920"/>
            <a:ext cx="10080" cy="133560"/>
          </a:xfrm>
          <a:custGeom>
            <a:avLst/>
            <a:gdLst/>
            <a:ahLst/>
            <a:cxnLst/>
            <a:rect l="0" t="0" r="r" b="b"/>
            <a:pathLst>
              <a:path w="28" h="371">
                <a:moveTo>
                  <a:pt x="0" y="0"/>
                </a:moveTo>
                <a:lnTo>
                  <a:pt x="28" y="0"/>
                </a:lnTo>
                <a:lnTo>
                  <a:pt x="28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reeform 176"/>
          <p:cNvSpPr/>
          <p:nvPr/>
        </p:nvSpPr>
        <p:spPr>
          <a:xfrm>
            <a:off x="3371760" y="2104920"/>
            <a:ext cx="2400480" cy="9720"/>
          </a:xfrm>
          <a:custGeom>
            <a:avLst/>
            <a:gdLst/>
            <a:ahLst/>
            <a:cxn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reeform 177"/>
          <p:cNvSpPr/>
          <p:nvPr/>
        </p:nvSpPr>
        <p:spPr>
          <a:xfrm>
            <a:off x="5762520" y="2104920"/>
            <a:ext cx="9720" cy="133560"/>
          </a:xfrm>
          <a:custGeom>
            <a:avLst/>
            <a:gdLst/>
            <a:ahLst/>
            <a:cxnLst/>
            <a:rect l="0" t="0" r="r" b="b"/>
            <a:pathLst>
              <a:path w="27" h="371">
                <a:moveTo>
                  <a:pt x="0" y="0"/>
                </a:moveTo>
                <a:lnTo>
                  <a:pt x="27" y="0"/>
                </a:lnTo>
                <a:lnTo>
                  <a:pt x="27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reeform 178"/>
          <p:cNvSpPr/>
          <p:nvPr/>
        </p:nvSpPr>
        <p:spPr>
          <a:xfrm>
            <a:off x="752400" y="222876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reeform 179"/>
          <p:cNvSpPr/>
          <p:nvPr/>
        </p:nvSpPr>
        <p:spPr>
          <a:xfrm>
            <a:off x="3371760" y="2228760"/>
            <a:ext cx="2400480" cy="9720"/>
          </a:xfrm>
          <a:custGeom>
            <a:avLst/>
            <a:gdLst/>
            <a:ahLst/>
            <a:cxn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reeform 180"/>
          <p:cNvSpPr/>
          <p:nvPr/>
        </p:nvSpPr>
        <p:spPr>
          <a:xfrm>
            <a:off x="752400" y="22381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reeform 181"/>
          <p:cNvSpPr/>
          <p:nvPr/>
        </p:nvSpPr>
        <p:spPr>
          <a:xfrm>
            <a:off x="3362040" y="223812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5762520" y="22381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reeform 183"/>
          <p:cNvSpPr/>
          <p:nvPr/>
        </p:nvSpPr>
        <p:spPr>
          <a:xfrm>
            <a:off x="752400" y="2771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reeform 184"/>
          <p:cNvSpPr/>
          <p:nvPr/>
        </p:nvSpPr>
        <p:spPr>
          <a:xfrm>
            <a:off x="752400" y="2761920"/>
            <a:ext cx="2619720" cy="10080"/>
          </a:xfrm>
          <a:custGeom>
            <a:avLst/>
            <a:gdLst/>
            <a:ahLst/>
            <a:cxn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reeform 185"/>
          <p:cNvSpPr/>
          <p:nvPr/>
        </p:nvSpPr>
        <p:spPr>
          <a:xfrm>
            <a:off x="3362040" y="27716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reeform 186"/>
          <p:cNvSpPr/>
          <p:nvPr/>
        </p:nvSpPr>
        <p:spPr>
          <a:xfrm>
            <a:off x="3371760" y="2761920"/>
            <a:ext cx="2400480" cy="10080"/>
          </a:xfrm>
          <a:custGeom>
            <a:avLst/>
            <a:gdLst/>
            <a:ahLst/>
            <a:cxn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reeform 187"/>
          <p:cNvSpPr/>
          <p:nvPr/>
        </p:nvSpPr>
        <p:spPr>
          <a:xfrm>
            <a:off x="5762520" y="2771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reeform 188"/>
          <p:cNvSpPr/>
          <p:nvPr/>
        </p:nvSpPr>
        <p:spPr>
          <a:xfrm>
            <a:off x="752400" y="3314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reeform 189"/>
          <p:cNvSpPr/>
          <p:nvPr/>
        </p:nvSpPr>
        <p:spPr>
          <a:xfrm>
            <a:off x="752400" y="330516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reeform 190"/>
          <p:cNvSpPr/>
          <p:nvPr/>
        </p:nvSpPr>
        <p:spPr>
          <a:xfrm>
            <a:off x="3362040" y="331452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reeform 191"/>
          <p:cNvSpPr/>
          <p:nvPr/>
        </p:nvSpPr>
        <p:spPr>
          <a:xfrm>
            <a:off x="3371760" y="3305160"/>
            <a:ext cx="2400480" cy="9720"/>
          </a:xfrm>
          <a:custGeom>
            <a:avLst/>
            <a:gdLst/>
            <a:ahLst/>
            <a:cxn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reeform 192"/>
          <p:cNvSpPr/>
          <p:nvPr/>
        </p:nvSpPr>
        <p:spPr>
          <a:xfrm>
            <a:off x="5762520" y="3314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reeform 193"/>
          <p:cNvSpPr/>
          <p:nvPr/>
        </p:nvSpPr>
        <p:spPr>
          <a:xfrm>
            <a:off x="752400" y="3848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752400" y="3838320"/>
            <a:ext cx="2619720" cy="10080"/>
          </a:xfrm>
          <a:custGeom>
            <a:avLst/>
            <a:gdLst/>
            <a:ahLst/>
            <a:cxn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reeform 195"/>
          <p:cNvSpPr/>
          <p:nvPr/>
        </p:nvSpPr>
        <p:spPr>
          <a:xfrm>
            <a:off x="3362040" y="38480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reeform 196"/>
          <p:cNvSpPr/>
          <p:nvPr/>
        </p:nvSpPr>
        <p:spPr>
          <a:xfrm>
            <a:off x="3371760" y="3838320"/>
            <a:ext cx="2400480" cy="10080"/>
          </a:xfrm>
          <a:custGeom>
            <a:avLst/>
            <a:gdLst/>
            <a:ahLst/>
            <a:cxn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reeform 197"/>
          <p:cNvSpPr/>
          <p:nvPr/>
        </p:nvSpPr>
        <p:spPr>
          <a:xfrm>
            <a:off x="5762520" y="3848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reeform 198"/>
          <p:cNvSpPr/>
          <p:nvPr/>
        </p:nvSpPr>
        <p:spPr>
          <a:xfrm>
            <a:off x="752400" y="43909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reeform 199"/>
          <p:cNvSpPr/>
          <p:nvPr/>
        </p:nvSpPr>
        <p:spPr>
          <a:xfrm>
            <a:off x="752400" y="4381200"/>
            <a:ext cx="2619720" cy="10080"/>
          </a:xfrm>
          <a:custGeom>
            <a:avLst/>
            <a:gdLst/>
            <a:ahLst/>
            <a:cxn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reeform 200"/>
          <p:cNvSpPr/>
          <p:nvPr/>
        </p:nvSpPr>
        <p:spPr>
          <a:xfrm>
            <a:off x="3362040" y="4390920"/>
            <a:ext cx="10080" cy="533520"/>
          </a:xfrm>
          <a:custGeom>
            <a:avLst/>
            <a:gdLst/>
            <a:ahLst/>
            <a:cxn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reeform 201"/>
          <p:cNvSpPr/>
          <p:nvPr/>
        </p:nvSpPr>
        <p:spPr>
          <a:xfrm>
            <a:off x="3371760" y="4381200"/>
            <a:ext cx="2400480" cy="10080"/>
          </a:xfrm>
          <a:custGeom>
            <a:avLst/>
            <a:gdLst/>
            <a:ahLst/>
            <a:cxn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reeform 202"/>
          <p:cNvSpPr/>
          <p:nvPr/>
        </p:nvSpPr>
        <p:spPr>
          <a:xfrm>
            <a:off x="5762520" y="43909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reeform 203"/>
          <p:cNvSpPr/>
          <p:nvPr/>
        </p:nvSpPr>
        <p:spPr>
          <a:xfrm>
            <a:off x="752400" y="4924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752400" y="4914720"/>
            <a:ext cx="2619720" cy="9720"/>
          </a:xfrm>
          <a:custGeom>
            <a:avLst/>
            <a:gdLst/>
            <a:ahLst/>
            <a:cxnLst/>
            <a:rect l="0" t="0" r="r" b="b"/>
            <a:pathLst>
              <a:path w="7277" h="27">
                <a:moveTo>
                  <a:pt x="0" y="0"/>
                </a:moveTo>
                <a:lnTo>
                  <a:pt x="7277" y="0"/>
                </a:lnTo>
                <a:lnTo>
                  <a:pt x="7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3362040" y="4924080"/>
            <a:ext cx="10080" cy="543600"/>
          </a:xfrm>
          <a:custGeom>
            <a:avLst/>
            <a:gdLst/>
            <a:ahLst/>
            <a:cxn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reeform 206"/>
          <p:cNvSpPr/>
          <p:nvPr/>
        </p:nvSpPr>
        <p:spPr>
          <a:xfrm>
            <a:off x="3371760" y="4914720"/>
            <a:ext cx="2400480" cy="9720"/>
          </a:xfrm>
          <a:custGeom>
            <a:avLst/>
            <a:gdLst/>
            <a:ahLst/>
            <a:cxnLst/>
            <a:rect l="0" t="0" r="r" b="b"/>
            <a:pathLst>
              <a:path w="6668" h="27">
                <a:moveTo>
                  <a:pt x="0" y="0"/>
                </a:moveTo>
                <a:lnTo>
                  <a:pt x="6668" y="0"/>
                </a:lnTo>
                <a:lnTo>
                  <a:pt x="6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reeform 207"/>
          <p:cNvSpPr/>
          <p:nvPr/>
        </p:nvSpPr>
        <p:spPr>
          <a:xfrm>
            <a:off x="5762520" y="4924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reeform 208"/>
          <p:cNvSpPr/>
          <p:nvPr/>
        </p:nvSpPr>
        <p:spPr>
          <a:xfrm>
            <a:off x="752400" y="5457600"/>
            <a:ext cx="2619720" cy="10080"/>
          </a:xfrm>
          <a:custGeom>
            <a:avLst/>
            <a:gdLst/>
            <a:ahLst/>
            <a:cxnLst/>
            <a:rect l="0" t="0" r="r" b="b"/>
            <a:pathLst>
              <a:path w="7277" h="28">
                <a:moveTo>
                  <a:pt x="0" y="0"/>
                </a:moveTo>
                <a:lnTo>
                  <a:pt x="7277" y="0"/>
                </a:lnTo>
                <a:lnTo>
                  <a:pt x="7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reeform 209"/>
          <p:cNvSpPr/>
          <p:nvPr/>
        </p:nvSpPr>
        <p:spPr>
          <a:xfrm>
            <a:off x="3371760" y="5457600"/>
            <a:ext cx="2400480" cy="10080"/>
          </a:xfrm>
          <a:custGeom>
            <a:avLst/>
            <a:gdLst/>
            <a:ahLst/>
            <a:cxnLst/>
            <a:rect l="0" t="0" r="r" b="b"/>
            <a:pathLst>
              <a:path w="6668" h="28">
                <a:moveTo>
                  <a:pt x="0" y="0"/>
                </a:moveTo>
                <a:lnTo>
                  <a:pt x="6668" y="0"/>
                </a:lnTo>
                <a:lnTo>
                  <a:pt x="6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747720" y="1422000"/>
            <a:ext cx="26406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Technology stack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0920" y="2353320"/>
            <a:ext cx="18802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Data generation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3491640" y="2353320"/>
            <a:ext cx="6984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LDAK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80920" y="2886840"/>
            <a:ext cx="17337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Per-site GWAS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3491640" y="2886840"/>
            <a:ext cx="1096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REGENIE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880920" y="3429720"/>
            <a:ext cx="16286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Meta-analysis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491640" y="3429720"/>
            <a:ext cx="10393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GWAMA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880920" y="3963240"/>
            <a:ext cx="21988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Federated learning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3491640" y="3963240"/>
            <a:ext cx="18000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NVIDIA FLARE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880920" y="4506120"/>
            <a:ext cx="10623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Compute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3491640" y="4506120"/>
            <a:ext cx="2144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Brev, HUNT Cloud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880920" y="5039280"/>
            <a:ext cx="8730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Storage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3491640" y="5039280"/>
            <a:ext cx="8892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AWS S3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117637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D82EA6-90F4-778F-625A-BB62734C2E98}"/>
              </a:ext>
            </a:extLst>
          </p:cNvPr>
          <p:cNvPicPr/>
          <p:nvPr/>
        </p:nvPicPr>
        <p:blipFill>
          <a:blip r:embed="rId2">
            <a:alphaModFix amt="37000"/>
          </a:blip>
          <a:srcRect/>
          <a:stretch>
            <a:fillRect/>
          </a:stretch>
        </p:blipFill>
        <p:spPr>
          <a:xfrm>
            <a:off x="-1" y="-1921488"/>
            <a:ext cx="23513143" cy="121481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Freeform 227"/>
          <p:cNvSpPr/>
          <p:nvPr/>
        </p:nvSpPr>
        <p:spPr>
          <a:xfrm>
            <a:off x="752400" y="1457280"/>
            <a:ext cx="5077080" cy="543240"/>
          </a:xfrm>
          <a:custGeom>
            <a:avLst/>
            <a:gdLst/>
            <a:ahLst/>
            <a:cxn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reeform 228"/>
          <p:cNvSpPr/>
          <p:nvPr/>
        </p:nvSpPr>
        <p:spPr>
          <a:xfrm>
            <a:off x="5829120" y="1457280"/>
            <a:ext cx="5610600" cy="543240"/>
          </a:xfrm>
          <a:custGeom>
            <a:avLst/>
            <a:gdLst/>
            <a:ahLst/>
            <a:cxnLst/>
            <a:rect l="0" t="0" r="r" b="b"/>
            <a:pathLst>
              <a:path w="15585" h="1509">
                <a:moveTo>
                  <a:pt x="0" y="0"/>
                </a:moveTo>
                <a:lnTo>
                  <a:pt x="15585" y="0"/>
                </a:lnTo>
                <a:lnTo>
                  <a:pt x="1558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reeform 229"/>
          <p:cNvSpPr/>
          <p:nvPr/>
        </p:nvSpPr>
        <p:spPr>
          <a:xfrm>
            <a:off x="752400" y="2000160"/>
            <a:ext cx="5077080" cy="533520"/>
          </a:xfrm>
          <a:custGeom>
            <a:avLst/>
            <a:gdLst/>
            <a:ahLst/>
            <a:cxnLst/>
            <a:rect l="0" t="0" r="r" b="b"/>
            <a:pathLst>
              <a:path w="14103" h="1482">
                <a:moveTo>
                  <a:pt x="0" y="0"/>
                </a:moveTo>
                <a:lnTo>
                  <a:pt x="14103" y="0"/>
                </a:lnTo>
                <a:lnTo>
                  <a:pt x="1410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reeform 230"/>
          <p:cNvSpPr/>
          <p:nvPr/>
        </p:nvSpPr>
        <p:spPr>
          <a:xfrm>
            <a:off x="5829120" y="2000160"/>
            <a:ext cx="5610600" cy="533520"/>
          </a:xfrm>
          <a:custGeom>
            <a:avLst/>
            <a:gdLst/>
            <a:ahLst/>
            <a:cxnLst/>
            <a:rect l="0" t="0" r="r" b="b"/>
            <a:pathLst>
              <a:path w="15585" h="1482">
                <a:moveTo>
                  <a:pt x="0" y="0"/>
                </a:moveTo>
                <a:lnTo>
                  <a:pt x="15585" y="0"/>
                </a:lnTo>
                <a:lnTo>
                  <a:pt x="1558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reeform 231"/>
          <p:cNvSpPr/>
          <p:nvPr/>
        </p:nvSpPr>
        <p:spPr>
          <a:xfrm>
            <a:off x="752400" y="2533320"/>
            <a:ext cx="5077080" cy="543600"/>
          </a:xfrm>
          <a:custGeom>
            <a:avLst/>
            <a:gdLst/>
            <a:ahLst/>
            <a:cxnLst/>
            <a:rect l="0" t="0" r="r" b="b"/>
            <a:pathLst>
              <a:path w="14103" h="1510">
                <a:moveTo>
                  <a:pt x="0" y="0"/>
                </a:moveTo>
                <a:lnTo>
                  <a:pt x="14103" y="0"/>
                </a:lnTo>
                <a:lnTo>
                  <a:pt x="14103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reeform 232"/>
          <p:cNvSpPr/>
          <p:nvPr/>
        </p:nvSpPr>
        <p:spPr>
          <a:xfrm>
            <a:off x="5829120" y="2533320"/>
            <a:ext cx="5610600" cy="543600"/>
          </a:xfrm>
          <a:custGeom>
            <a:avLst/>
            <a:gdLst/>
            <a:ahLst/>
            <a:cxnLst/>
            <a:rect l="0" t="0" r="r" b="b"/>
            <a:pathLst>
              <a:path w="15585" h="1510">
                <a:moveTo>
                  <a:pt x="0" y="0"/>
                </a:moveTo>
                <a:lnTo>
                  <a:pt x="15585" y="0"/>
                </a:lnTo>
                <a:lnTo>
                  <a:pt x="1558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reeform 233"/>
          <p:cNvSpPr/>
          <p:nvPr/>
        </p:nvSpPr>
        <p:spPr>
          <a:xfrm>
            <a:off x="752400" y="3076560"/>
            <a:ext cx="5077080" cy="533520"/>
          </a:xfrm>
          <a:custGeom>
            <a:avLst/>
            <a:gdLst/>
            <a:ahLst/>
            <a:cxnLst/>
            <a:rect l="0" t="0" r="r" b="b"/>
            <a:pathLst>
              <a:path w="14103" h="1482">
                <a:moveTo>
                  <a:pt x="0" y="0"/>
                </a:moveTo>
                <a:lnTo>
                  <a:pt x="14103" y="0"/>
                </a:lnTo>
                <a:lnTo>
                  <a:pt x="1410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reeform 234"/>
          <p:cNvSpPr/>
          <p:nvPr/>
        </p:nvSpPr>
        <p:spPr>
          <a:xfrm>
            <a:off x="5829120" y="3076560"/>
            <a:ext cx="5610600" cy="533520"/>
          </a:xfrm>
          <a:custGeom>
            <a:avLst/>
            <a:gdLst/>
            <a:ahLst/>
            <a:cxnLst/>
            <a:rect l="0" t="0" r="r" b="b"/>
            <a:pathLst>
              <a:path w="15585" h="1482">
                <a:moveTo>
                  <a:pt x="0" y="0"/>
                </a:moveTo>
                <a:lnTo>
                  <a:pt x="15585" y="0"/>
                </a:lnTo>
                <a:lnTo>
                  <a:pt x="1558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reeform 235"/>
          <p:cNvSpPr/>
          <p:nvPr/>
        </p:nvSpPr>
        <p:spPr>
          <a:xfrm>
            <a:off x="752400" y="3609720"/>
            <a:ext cx="5077080" cy="543240"/>
          </a:xfrm>
          <a:custGeom>
            <a:avLst/>
            <a:gdLst/>
            <a:ahLst/>
            <a:cxn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reeform 236"/>
          <p:cNvSpPr/>
          <p:nvPr/>
        </p:nvSpPr>
        <p:spPr>
          <a:xfrm>
            <a:off x="5829120" y="3609720"/>
            <a:ext cx="5610600" cy="543240"/>
          </a:xfrm>
          <a:custGeom>
            <a:avLst/>
            <a:gdLst/>
            <a:ahLst/>
            <a:cxnLst/>
            <a:rect l="0" t="0" r="r" b="b"/>
            <a:pathLst>
              <a:path w="15585" h="1509">
                <a:moveTo>
                  <a:pt x="0" y="0"/>
                </a:moveTo>
                <a:lnTo>
                  <a:pt x="15585" y="0"/>
                </a:lnTo>
                <a:lnTo>
                  <a:pt x="1558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reeform 237"/>
          <p:cNvSpPr/>
          <p:nvPr/>
        </p:nvSpPr>
        <p:spPr>
          <a:xfrm>
            <a:off x="752400" y="4152600"/>
            <a:ext cx="5077080" cy="952920"/>
          </a:xfrm>
          <a:custGeom>
            <a:avLst/>
            <a:gdLst/>
            <a:ahLst/>
            <a:cxnLst/>
            <a:rect l="0" t="0" r="r" b="b"/>
            <a:pathLst>
              <a:path w="14103" h="2647">
                <a:moveTo>
                  <a:pt x="0" y="0"/>
                </a:moveTo>
                <a:lnTo>
                  <a:pt x="14103" y="0"/>
                </a:lnTo>
                <a:lnTo>
                  <a:pt x="1410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reeform 238"/>
          <p:cNvSpPr/>
          <p:nvPr/>
        </p:nvSpPr>
        <p:spPr>
          <a:xfrm>
            <a:off x="5829120" y="4152600"/>
            <a:ext cx="5610600" cy="952920"/>
          </a:xfrm>
          <a:custGeom>
            <a:avLst/>
            <a:gdLst/>
            <a:ahLst/>
            <a:cxnLst/>
            <a:rect l="0" t="0" r="r" b="b"/>
            <a:pathLst>
              <a:path w="15585" h="2647">
                <a:moveTo>
                  <a:pt x="0" y="0"/>
                </a:moveTo>
                <a:lnTo>
                  <a:pt x="15585" y="0"/>
                </a:lnTo>
                <a:lnTo>
                  <a:pt x="1558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reeform 239"/>
          <p:cNvSpPr/>
          <p:nvPr/>
        </p:nvSpPr>
        <p:spPr>
          <a:xfrm>
            <a:off x="752400" y="5105160"/>
            <a:ext cx="5077080" cy="533880"/>
          </a:xfrm>
          <a:custGeom>
            <a:avLst/>
            <a:gdLst/>
            <a:ahLst/>
            <a:cxnLst/>
            <a:rect l="0" t="0" r="r" b="b"/>
            <a:pathLst>
              <a:path w="14103" h="1483">
                <a:moveTo>
                  <a:pt x="0" y="0"/>
                </a:moveTo>
                <a:lnTo>
                  <a:pt x="14103" y="0"/>
                </a:lnTo>
                <a:lnTo>
                  <a:pt x="1410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Freeform 240"/>
          <p:cNvSpPr/>
          <p:nvPr/>
        </p:nvSpPr>
        <p:spPr>
          <a:xfrm>
            <a:off x="5829120" y="5105160"/>
            <a:ext cx="5610600" cy="533880"/>
          </a:xfrm>
          <a:custGeom>
            <a:avLst/>
            <a:gdLst/>
            <a:ahLst/>
            <a:cxnLst/>
            <a:rect l="0" t="0" r="r" b="b"/>
            <a:pathLst>
              <a:path w="15585" h="1483">
                <a:moveTo>
                  <a:pt x="0" y="0"/>
                </a:moveTo>
                <a:lnTo>
                  <a:pt x="15585" y="0"/>
                </a:lnTo>
                <a:lnTo>
                  <a:pt x="1558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Freeform 241"/>
          <p:cNvSpPr/>
          <p:nvPr/>
        </p:nvSpPr>
        <p:spPr>
          <a:xfrm>
            <a:off x="752400" y="5638680"/>
            <a:ext cx="5077080" cy="543240"/>
          </a:xfrm>
          <a:custGeom>
            <a:avLst/>
            <a:gdLst/>
            <a:ahLst/>
            <a:cxn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Freeform 242"/>
          <p:cNvSpPr/>
          <p:nvPr/>
        </p:nvSpPr>
        <p:spPr>
          <a:xfrm>
            <a:off x="5829120" y="5638680"/>
            <a:ext cx="5610600" cy="543240"/>
          </a:xfrm>
          <a:custGeom>
            <a:avLst/>
            <a:gdLst/>
            <a:ahLst/>
            <a:cxnLst/>
            <a:rect l="0" t="0" r="r" b="b"/>
            <a:pathLst>
              <a:path w="15585" h="1509">
                <a:moveTo>
                  <a:pt x="0" y="0"/>
                </a:moveTo>
                <a:lnTo>
                  <a:pt x="15585" y="0"/>
                </a:lnTo>
                <a:lnTo>
                  <a:pt x="1558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Freeform 243"/>
          <p:cNvSpPr/>
          <p:nvPr/>
        </p:nvSpPr>
        <p:spPr>
          <a:xfrm>
            <a:off x="752400" y="6181560"/>
            <a:ext cx="5077080" cy="533880"/>
          </a:xfrm>
          <a:custGeom>
            <a:avLst/>
            <a:gdLst/>
            <a:ahLst/>
            <a:cxnLst/>
            <a:rect l="0" t="0" r="r" b="b"/>
            <a:pathLst>
              <a:path w="14103" h="1483">
                <a:moveTo>
                  <a:pt x="0" y="0"/>
                </a:moveTo>
                <a:lnTo>
                  <a:pt x="14103" y="0"/>
                </a:lnTo>
                <a:lnTo>
                  <a:pt x="1410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reeform 244"/>
          <p:cNvSpPr/>
          <p:nvPr/>
        </p:nvSpPr>
        <p:spPr>
          <a:xfrm>
            <a:off x="5829120" y="6181560"/>
            <a:ext cx="5610600" cy="533880"/>
          </a:xfrm>
          <a:custGeom>
            <a:avLst/>
            <a:gdLst/>
            <a:ahLst/>
            <a:cxnLst/>
            <a:rect l="0" t="0" r="r" b="b"/>
            <a:pathLst>
              <a:path w="15585" h="1483">
                <a:moveTo>
                  <a:pt x="0" y="0"/>
                </a:moveTo>
                <a:lnTo>
                  <a:pt x="15585" y="0"/>
                </a:lnTo>
                <a:lnTo>
                  <a:pt x="1558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reeform 245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reeform 246"/>
          <p:cNvSpPr/>
          <p:nvPr/>
        </p:nvSpPr>
        <p:spPr>
          <a:xfrm>
            <a:off x="752400" y="145728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Freeform 247"/>
          <p:cNvSpPr/>
          <p:nvPr/>
        </p:nvSpPr>
        <p:spPr>
          <a:xfrm>
            <a:off x="582912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reeform 248"/>
          <p:cNvSpPr/>
          <p:nvPr/>
        </p:nvSpPr>
        <p:spPr>
          <a:xfrm>
            <a:off x="5838480" y="145728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reeform 249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Freeform 250"/>
          <p:cNvSpPr/>
          <p:nvPr/>
        </p:nvSpPr>
        <p:spPr>
          <a:xfrm>
            <a:off x="752400" y="1990440"/>
            <a:ext cx="5086440" cy="10080"/>
          </a:xfrm>
          <a:custGeom>
            <a:avLst/>
            <a:gdLst/>
            <a:ahLst/>
            <a:cxnLst/>
            <a:rect l="0" t="0" r="r" b="b"/>
            <a:pathLst>
              <a:path w="14129" h="28">
                <a:moveTo>
                  <a:pt x="0" y="0"/>
                </a:moveTo>
                <a:lnTo>
                  <a:pt x="14129" y="0"/>
                </a:lnTo>
                <a:lnTo>
                  <a:pt x="1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reeform 251"/>
          <p:cNvSpPr/>
          <p:nvPr/>
        </p:nvSpPr>
        <p:spPr>
          <a:xfrm>
            <a:off x="5838480" y="199044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reeform 252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Freeform 253"/>
          <p:cNvSpPr/>
          <p:nvPr/>
        </p:nvSpPr>
        <p:spPr>
          <a:xfrm>
            <a:off x="582912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reeform 254"/>
          <p:cNvSpPr/>
          <p:nvPr/>
        </p:nvSpPr>
        <p:spPr>
          <a:xfrm>
            <a:off x="11439360" y="2000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reeform 255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Freeform 256"/>
          <p:cNvSpPr/>
          <p:nvPr/>
        </p:nvSpPr>
        <p:spPr>
          <a:xfrm>
            <a:off x="752400" y="2533320"/>
            <a:ext cx="5086440" cy="10080"/>
          </a:xfrm>
          <a:custGeom>
            <a:avLst/>
            <a:gdLst/>
            <a:ahLst/>
            <a:cxnLst/>
            <a:rect l="0" t="0" r="r" b="b"/>
            <a:pathLst>
              <a:path w="14129" h="28">
                <a:moveTo>
                  <a:pt x="0" y="0"/>
                </a:moveTo>
                <a:lnTo>
                  <a:pt x="14129" y="0"/>
                </a:lnTo>
                <a:lnTo>
                  <a:pt x="1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Freeform 257"/>
          <p:cNvSpPr/>
          <p:nvPr/>
        </p:nvSpPr>
        <p:spPr>
          <a:xfrm>
            <a:off x="582912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Freeform 258"/>
          <p:cNvSpPr/>
          <p:nvPr/>
        </p:nvSpPr>
        <p:spPr>
          <a:xfrm>
            <a:off x="5838480" y="253332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reeform 259"/>
          <p:cNvSpPr/>
          <p:nvPr/>
        </p:nvSpPr>
        <p:spPr>
          <a:xfrm>
            <a:off x="11439360" y="2543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Freeform 260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reeform 261"/>
          <p:cNvSpPr/>
          <p:nvPr/>
        </p:nvSpPr>
        <p:spPr>
          <a:xfrm>
            <a:off x="752400" y="3066840"/>
            <a:ext cx="5086440" cy="10080"/>
          </a:xfrm>
          <a:custGeom>
            <a:avLst/>
            <a:gdLst/>
            <a:ahLst/>
            <a:cxnLst/>
            <a:rect l="0" t="0" r="r" b="b"/>
            <a:pathLst>
              <a:path w="14129" h="28">
                <a:moveTo>
                  <a:pt x="0" y="0"/>
                </a:moveTo>
                <a:lnTo>
                  <a:pt x="14129" y="0"/>
                </a:lnTo>
                <a:lnTo>
                  <a:pt x="1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reeform 262"/>
          <p:cNvSpPr/>
          <p:nvPr/>
        </p:nvSpPr>
        <p:spPr>
          <a:xfrm>
            <a:off x="582912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reeform 263"/>
          <p:cNvSpPr/>
          <p:nvPr/>
        </p:nvSpPr>
        <p:spPr>
          <a:xfrm>
            <a:off x="5838480" y="306684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reeform 264"/>
          <p:cNvSpPr/>
          <p:nvPr/>
        </p:nvSpPr>
        <p:spPr>
          <a:xfrm>
            <a:off x="11439360" y="3076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reeform 265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reeform 266"/>
          <p:cNvSpPr/>
          <p:nvPr/>
        </p:nvSpPr>
        <p:spPr>
          <a:xfrm>
            <a:off x="752400" y="3609720"/>
            <a:ext cx="5086440" cy="10080"/>
          </a:xfrm>
          <a:custGeom>
            <a:avLst/>
            <a:gdLst/>
            <a:ahLst/>
            <a:cxnLst/>
            <a:rect l="0" t="0" r="r" b="b"/>
            <a:pathLst>
              <a:path w="14129" h="28">
                <a:moveTo>
                  <a:pt x="0" y="0"/>
                </a:moveTo>
                <a:lnTo>
                  <a:pt x="14129" y="0"/>
                </a:lnTo>
                <a:lnTo>
                  <a:pt x="1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reeform 267"/>
          <p:cNvSpPr/>
          <p:nvPr/>
        </p:nvSpPr>
        <p:spPr>
          <a:xfrm>
            <a:off x="582912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reeform 268"/>
          <p:cNvSpPr/>
          <p:nvPr/>
        </p:nvSpPr>
        <p:spPr>
          <a:xfrm>
            <a:off x="5838480" y="360972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Freeform 269"/>
          <p:cNvSpPr/>
          <p:nvPr/>
        </p:nvSpPr>
        <p:spPr>
          <a:xfrm>
            <a:off x="11439360" y="361944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Freeform 270"/>
          <p:cNvSpPr/>
          <p:nvPr/>
        </p:nvSpPr>
        <p:spPr>
          <a:xfrm>
            <a:off x="752400" y="4152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reeform 271"/>
          <p:cNvSpPr/>
          <p:nvPr/>
        </p:nvSpPr>
        <p:spPr>
          <a:xfrm>
            <a:off x="752400" y="414324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Freeform 272"/>
          <p:cNvSpPr/>
          <p:nvPr/>
        </p:nvSpPr>
        <p:spPr>
          <a:xfrm>
            <a:off x="5829120" y="4152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Freeform 273"/>
          <p:cNvSpPr/>
          <p:nvPr/>
        </p:nvSpPr>
        <p:spPr>
          <a:xfrm>
            <a:off x="5838480" y="414324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Freeform 274"/>
          <p:cNvSpPr/>
          <p:nvPr/>
        </p:nvSpPr>
        <p:spPr>
          <a:xfrm>
            <a:off x="11439360" y="41526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reeform 275"/>
          <p:cNvSpPr/>
          <p:nvPr/>
        </p:nvSpPr>
        <p:spPr>
          <a:xfrm>
            <a:off x="752400" y="5105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reeform 276"/>
          <p:cNvSpPr/>
          <p:nvPr/>
        </p:nvSpPr>
        <p:spPr>
          <a:xfrm>
            <a:off x="752400" y="509580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reeform 277"/>
          <p:cNvSpPr/>
          <p:nvPr/>
        </p:nvSpPr>
        <p:spPr>
          <a:xfrm>
            <a:off x="5829120" y="5105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reeform 278"/>
          <p:cNvSpPr/>
          <p:nvPr/>
        </p:nvSpPr>
        <p:spPr>
          <a:xfrm>
            <a:off x="5838480" y="509580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reeform 279"/>
          <p:cNvSpPr/>
          <p:nvPr/>
        </p:nvSpPr>
        <p:spPr>
          <a:xfrm>
            <a:off x="11439360" y="51051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reeform 280"/>
          <p:cNvSpPr/>
          <p:nvPr/>
        </p:nvSpPr>
        <p:spPr>
          <a:xfrm>
            <a:off x="752400" y="5648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reeform 281"/>
          <p:cNvSpPr/>
          <p:nvPr/>
        </p:nvSpPr>
        <p:spPr>
          <a:xfrm>
            <a:off x="752400" y="563868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reeform 282"/>
          <p:cNvSpPr/>
          <p:nvPr/>
        </p:nvSpPr>
        <p:spPr>
          <a:xfrm>
            <a:off x="5829120" y="5648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reeform 283"/>
          <p:cNvSpPr/>
          <p:nvPr/>
        </p:nvSpPr>
        <p:spPr>
          <a:xfrm>
            <a:off x="5838480" y="563868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reeform 284"/>
          <p:cNvSpPr/>
          <p:nvPr/>
        </p:nvSpPr>
        <p:spPr>
          <a:xfrm>
            <a:off x="11439360" y="56480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reeform 285"/>
          <p:cNvSpPr/>
          <p:nvPr/>
        </p:nvSpPr>
        <p:spPr>
          <a:xfrm>
            <a:off x="752400" y="6181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reeform 286"/>
          <p:cNvSpPr/>
          <p:nvPr/>
        </p:nvSpPr>
        <p:spPr>
          <a:xfrm>
            <a:off x="752400" y="6171840"/>
            <a:ext cx="5086440" cy="10080"/>
          </a:xfrm>
          <a:custGeom>
            <a:avLst/>
            <a:gdLst/>
            <a:ahLst/>
            <a:cxnLst/>
            <a:rect l="0" t="0" r="r" b="b"/>
            <a:pathLst>
              <a:path w="14129" h="28">
                <a:moveTo>
                  <a:pt x="0" y="0"/>
                </a:moveTo>
                <a:lnTo>
                  <a:pt x="14129" y="0"/>
                </a:lnTo>
                <a:lnTo>
                  <a:pt x="1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reeform 287"/>
          <p:cNvSpPr/>
          <p:nvPr/>
        </p:nvSpPr>
        <p:spPr>
          <a:xfrm>
            <a:off x="5829120" y="6181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reeform 288"/>
          <p:cNvSpPr/>
          <p:nvPr/>
        </p:nvSpPr>
        <p:spPr>
          <a:xfrm>
            <a:off x="5838480" y="6171840"/>
            <a:ext cx="5610600" cy="10080"/>
          </a:xfrm>
          <a:custGeom>
            <a:avLst/>
            <a:gdLst/>
            <a:ahLst/>
            <a:cxnLst/>
            <a:rect l="0" t="0" r="r" b="b"/>
            <a:pathLst>
              <a:path w="15585" h="28">
                <a:moveTo>
                  <a:pt x="0" y="0"/>
                </a:moveTo>
                <a:lnTo>
                  <a:pt x="15585" y="0"/>
                </a:lnTo>
                <a:lnTo>
                  <a:pt x="155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reeform 289"/>
          <p:cNvSpPr/>
          <p:nvPr/>
        </p:nvSpPr>
        <p:spPr>
          <a:xfrm>
            <a:off x="11439360" y="61815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reeform 290"/>
          <p:cNvSpPr/>
          <p:nvPr/>
        </p:nvSpPr>
        <p:spPr>
          <a:xfrm>
            <a:off x="752400" y="6715080"/>
            <a:ext cx="5086440" cy="9720"/>
          </a:xfrm>
          <a:custGeom>
            <a:avLst/>
            <a:gdLst/>
            <a:ahLst/>
            <a:cxnLst/>
            <a:rect l="0" t="0" r="r" b="b"/>
            <a:pathLst>
              <a:path w="14129" h="27">
                <a:moveTo>
                  <a:pt x="0" y="0"/>
                </a:moveTo>
                <a:lnTo>
                  <a:pt x="14129" y="0"/>
                </a:lnTo>
                <a:lnTo>
                  <a:pt x="1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reeform 291"/>
          <p:cNvSpPr/>
          <p:nvPr/>
        </p:nvSpPr>
        <p:spPr>
          <a:xfrm>
            <a:off x="5838480" y="6715080"/>
            <a:ext cx="5610600" cy="9720"/>
          </a:xfrm>
          <a:custGeom>
            <a:avLst/>
            <a:gdLst/>
            <a:ahLst/>
            <a:cxnLst/>
            <a:rect l="0" t="0" r="r" b="b"/>
            <a:pathLst>
              <a:path w="15585" h="27">
                <a:moveTo>
                  <a:pt x="0" y="0"/>
                </a:moveTo>
                <a:lnTo>
                  <a:pt x="15585" y="0"/>
                </a:lnTo>
                <a:lnTo>
                  <a:pt x="155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747720" y="783720"/>
            <a:ext cx="60112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What we delivered vs. the original plan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2780280" y="1581840"/>
            <a:ext cx="9543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Planned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8226720" y="1581840"/>
            <a:ext cx="7074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Status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reeform 295"/>
          <p:cNvSpPr/>
          <p:nvPr/>
        </p:nvSpPr>
        <p:spPr>
          <a:xfrm>
            <a:off x="5991120" y="211428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68" y="683"/>
                </a:moveTo>
                <a:cubicBezTo>
                  <a:pt x="768" y="730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0"/>
                  <a:pt x="0" y="683"/>
                </a:cubicBezTo>
                <a:lnTo>
                  <a:pt x="0" y="86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reeform 296"/>
          <p:cNvSpPr/>
          <p:nvPr/>
        </p:nvSpPr>
        <p:spPr>
          <a:xfrm>
            <a:off x="6035040" y="216000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2"/>
                </a:lnTo>
                <a:lnTo>
                  <a:pt x="89" y="283"/>
                </a:lnTo>
                <a:cubicBezTo>
                  <a:pt x="67" y="263"/>
                  <a:pt x="34" y="264"/>
                  <a:pt x="14" y="286"/>
                </a:cubicBezTo>
                <a:cubicBezTo>
                  <a:pt x="-6" y="308"/>
                  <a:pt x="-5" y="341"/>
                  <a:pt x="17" y="361"/>
                </a:cubicBezTo>
                <a:lnTo>
                  <a:pt x="170" y="504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4"/>
                </a:cubicBezTo>
                <a:cubicBezTo>
                  <a:pt x="258" y="483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880920" y="2115360"/>
            <a:ext cx="4015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Synthetic 3-site multi-ancestry data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6276600" y="2115360"/>
            <a:ext cx="676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reeform 299"/>
          <p:cNvSpPr/>
          <p:nvPr/>
        </p:nvSpPr>
        <p:spPr>
          <a:xfrm>
            <a:off x="5991120" y="265716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68" y="683"/>
                </a:moveTo>
                <a:cubicBezTo>
                  <a:pt x="768" y="730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0"/>
                  <a:pt x="0" y="683"/>
                </a:cubicBezTo>
                <a:lnTo>
                  <a:pt x="0" y="86"/>
                </a:lnTo>
                <a:cubicBezTo>
                  <a:pt x="0" y="39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9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reeform 300"/>
          <p:cNvSpPr/>
          <p:nvPr/>
        </p:nvSpPr>
        <p:spPr>
          <a:xfrm>
            <a:off x="6035040" y="270288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2"/>
                </a:lnTo>
                <a:lnTo>
                  <a:pt x="89" y="283"/>
                </a:lnTo>
                <a:cubicBezTo>
                  <a:pt x="67" y="263"/>
                  <a:pt x="34" y="265"/>
                  <a:pt x="14" y="286"/>
                </a:cubicBezTo>
                <a:cubicBezTo>
                  <a:pt x="-6" y="308"/>
                  <a:pt x="-5" y="341"/>
                  <a:pt x="17" y="361"/>
                </a:cubicBezTo>
                <a:lnTo>
                  <a:pt x="170" y="503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3"/>
                </a:cubicBezTo>
                <a:cubicBezTo>
                  <a:pt x="258" y="483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880920" y="2658240"/>
            <a:ext cx="36925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Per-site REGENIE client pipeline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6276600" y="2658240"/>
            <a:ext cx="676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reeform 303"/>
          <p:cNvSpPr/>
          <p:nvPr/>
        </p:nvSpPr>
        <p:spPr>
          <a:xfrm>
            <a:off x="5991120" y="319068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2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2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2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reeform 304"/>
          <p:cNvSpPr/>
          <p:nvPr/>
        </p:nvSpPr>
        <p:spPr>
          <a:xfrm>
            <a:off x="6035040" y="323640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6" y="383"/>
                </a:lnTo>
                <a:lnTo>
                  <a:pt x="89" y="284"/>
                </a:lnTo>
                <a:cubicBezTo>
                  <a:pt x="67" y="264"/>
                  <a:pt x="34" y="265"/>
                  <a:pt x="14" y="287"/>
                </a:cubicBezTo>
                <a:cubicBezTo>
                  <a:pt x="-6" y="308"/>
                  <a:pt x="-5" y="342"/>
                  <a:pt x="17" y="362"/>
                </a:cubicBezTo>
                <a:lnTo>
                  <a:pt x="170" y="504"/>
                </a:lnTo>
                <a:cubicBezTo>
                  <a:pt x="180" y="514"/>
                  <a:pt x="193" y="518"/>
                  <a:pt x="206" y="518"/>
                </a:cubicBezTo>
                <a:cubicBezTo>
                  <a:pt x="221" y="518"/>
                  <a:pt x="239" y="512"/>
                  <a:pt x="251" y="494"/>
                </a:cubicBezTo>
                <a:cubicBezTo>
                  <a:pt x="258" y="483"/>
                  <a:pt x="519" y="83"/>
                  <a:pt x="519" y="83"/>
                </a:cubicBezTo>
                <a:cubicBezTo>
                  <a:pt x="535" y="59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880920" y="3191400"/>
            <a:ext cx="42868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Central summary-stat standardization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6276600" y="3191400"/>
            <a:ext cx="676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reeform 307"/>
          <p:cNvSpPr/>
          <p:nvPr/>
        </p:nvSpPr>
        <p:spPr>
          <a:xfrm>
            <a:off x="5991120" y="373356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2"/>
                </a:moveTo>
                <a:cubicBezTo>
                  <a:pt x="768" y="729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29"/>
                  <a:pt x="0" y="682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2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reeform 308"/>
          <p:cNvSpPr/>
          <p:nvPr/>
        </p:nvSpPr>
        <p:spPr>
          <a:xfrm>
            <a:off x="6035040" y="377928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8" y="-7"/>
                  <a:pt x="445" y="0"/>
                  <a:pt x="429" y="24"/>
                </a:cubicBezTo>
                <a:lnTo>
                  <a:pt x="196" y="383"/>
                </a:lnTo>
                <a:lnTo>
                  <a:pt x="89" y="284"/>
                </a:lnTo>
                <a:cubicBezTo>
                  <a:pt x="67" y="264"/>
                  <a:pt x="34" y="265"/>
                  <a:pt x="14" y="287"/>
                </a:cubicBezTo>
                <a:cubicBezTo>
                  <a:pt x="-6" y="309"/>
                  <a:pt x="-5" y="342"/>
                  <a:pt x="17" y="362"/>
                </a:cubicBezTo>
                <a:lnTo>
                  <a:pt x="170" y="504"/>
                </a:lnTo>
                <a:cubicBezTo>
                  <a:pt x="180" y="514"/>
                  <a:pt x="193" y="518"/>
                  <a:pt x="206" y="518"/>
                </a:cubicBezTo>
                <a:cubicBezTo>
                  <a:pt x="221" y="518"/>
                  <a:pt x="239" y="512"/>
                  <a:pt x="251" y="494"/>
                </a:cubicBezTo>
                <a:cubicBezTo>
                  <a:pt x="258" y="483"/>
                  <a:pt x="519" y="82"/>
                  <a:pt x="519" y="82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Box 309"/>
          <p:cNvSpPr txBox="1"/>
          <p:nvPr/>
        </p:nvSpPr>
        <p:spPr>
          <a:xfrm>
            <a:off x="880920" y="3734640"/>
            <a:ext cx="43441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GWAMA meta-analysis — fixed effects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6276600" y="3734640"/>
            <a:ext cx="676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880920" y="4267800"/>
            <a:ext cx="38786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GWAMA meta-analysis — random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reeform 312"/>
          <p:cNvSpPr/>
          <p:nvPr/>
        </p:nvSpPr>
        <p:spPr>
          <a:xfrm>
            <a:off x="5991120" y="426708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6"/>
                </a:lnTo>
                <a:cubicBezTo>
                  <a:pt x="0" y="39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9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reeform 313"/>
          <p:cNvSpPr/>
          <p:nvPr/>
        </p:nvSpPr>
        <p:spPr>
          <a:xfrm>
            <a:off x="6035040" y="431280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4"/>
                </a:lnTo>
                <a:lnTo>
                  <a:pt x="89" y="285"/>
                </a:lnTo>
                <a:cubicBezTo>
                  <a:pt x="67" y="265"/>
                  <a:pt x="34" y="266"/>
                  <a:pt x="14" y="288"/>
                </a:cubicBezTo>
                <a:cubicBezTo>
                  <a:pt x="-6" y="309"/>
                  <a:pt x="-5" y="343"/>
                  <a:pt x="17" y="363"/>
                </a:cubicBezTo>
                <a:lnTo>
                  <a:pt x="170" y="505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5"/>
                </a:cubicBezTo>
                <a:cubicBezTo>
                  <a:pt x="258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880920" y="4686840"/>
            <a:ext cx="722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effects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276600" y="4267800"/>
            <a:ext cx="42670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 (was flagged buggy at planning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TextBox 316"/>
          <p:cNvSpPr txBox="1"/>
          <p:nvPr/>
        </p:nvSpPr>
        <p:spPr>
          <a:xfrm>
            <a:off x="5959080" y="4686840"/>
            <a:ext cx="5846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time)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reeform 317"/>
          <p:cNvSpPr/>
          <p:nvPr/>
        </p:nvSpPr>
        <p:spPr>
          <a:xfrm>
            <a:off x="5991120" y="521964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reeform 318"/>
          <p:cNvSpPr/>
          <p:nvPr/>
        </p:nvSpPr>
        <p:spPr>
          <a:xfrm>
            <a:off x="6035040" y="526536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6" y="384"/>
                </a:lnTo>
                <a:lnTo>
                  <a:pt x="89" y="284"/>
                </a:lnTo>
                <a:cubicBezTo>
                  <a:pt x="67" y="264"/>
                  <a:pt x="34" y="266"/>
                  <a:pt x="14" y="287"/>
                </a:cubicBezTo>
                <a:cubicBezTo>
                  <a:pt x="-6" y="309"/>
                  <a:pt x="-5" y="343"/>
                  <a:pt x="17" y="363"/>
                </a:cubicBezTo>
                <a:lnTo>
                  <a:pt x="170" y="505"/>
                </a:lnTo>
                <a:cubicBezTo>
                  <a:pt x="180" y="514"/>
                  <a:pt x="193" y="519"/>
                  <a:pt x="206" y="519"/>
                </a:cubicBezTo>
                <a:cubicBezTo>
                  <a:pt x="221" y="519"/>
                  <a:pt x="239" y="513"/>
                  <a:pt x="251" y="495"/>
                </a:cubicBezTo>
                <a:cubicBezTo>
                  <a:pt x="258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880920" y="5220360"/>
            <a:ext cx="37299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Visualization (originally "bonus")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6276600" y="5220360"/>
            <a:ext cx="42944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Done — plots + interactive dashboard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reeform 321"/>
          <p:cNvSpPr/>
          <p:nvPr/>
        </p:nvSpPr>
        <p:spPr>
          <a:xfrm>
            <a:off x="5991120" y="576252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53" y="142"/>
                </a:moveTo>
                <a:lnTo>
                  <a:pt x="536" y="5"/>
                </a:lnTo>
                <a:cubicBezTo>
                  <a:pt x="517" y="-7"/>
                  <a:pt x="501" y="2"/>
                  <a:pt x="501" y="24"/>
                </a:cubicBezTo>
                <a:lnTo>
                  <a:pt x="501" y="64"/>
                </a:lnTo>
                <a:lnTo>
                  <a:pt x="42" y="64"/>
                </a:lnTo>
                <a:cubicBezTo>
                  <a:pt x="19" y="64"/>
                  <a:pt x="0" y="83"/>
                  <a:pt x="0" y="106"/>
                </a:cubicBezTo>
                <a:lnTo>
                  <a:pt x="0" y="234"/>
                </a:lnTo>
                <a:cubicBezTo>
                  <a:pt x="0" y="258"/>
                  <a:pt x="19" y="277"/>
                  <a:pt x="42" y="277"/>
                </a:cubicBezTo>
                <a:lnTo>
                  <a:pt x="501" y="277"/>
                </a:lnTo>
                <a:lnTo>
                  <a:pt x="501" y="317"/>
                </a:lnTo>
                <a:cubicBezTo>
                  <a:pt x="501" y="340"/>
                  <a:pt x="517" y="347"/>
                  <a:pt x="535" y="335"/>
                </a:cubicBezTo>
                <a:lnTo>
                  <a:pt x="754" y="187"/>
                </a:lnTo>
                <a:cubicBezTo>
                  <a:pt x="763" y="181"/>
                  <a:pt x="768" y="173"/>
                  <a:pt x="768" y="164"/>
                </a:cubicBezTo>
                <a:cubicBezTo>
                  <a:pt x="768" y="156"/>
                  <a:pt x="763" y="148"/>
                  <a:pt x="753" y="142"/>
                </a:cubicBezTo>
                <a:moveTo>
                  <a:pt x="134" y="582"/>
                </a:moveTo>
                <a:cubicBezTo>
                  <a:pt x="134" y="593"/>
                  <a:pt x="127" y="604"/>
                  <a:pt x="115" y="604"/>
                </a:cubicBezTo>
                <a:cubicBezTo>
                  <a:pt x="103" y="604"/>
                  <a:pt x="93" y="595"/>
                  <a:pt x="76" y="595"/>
                </a:cubicBezTo>
                <a:cubicBezTo>
                  <a:pt x="63" y="595"/>
                  <a:pt x="52" y="602"/>
                  <a:pt x="52" y="614"/>
                </a:cubicBezTo>
                <a:cubicBezTo>
                  <a:pt x="52" y="644"/>
                  <a:pt x="149" y="625"/>
                  <a:pt x="149" y="700"/>
                </a:cubicBezTo>
                <a:cubicBezTo>
                  <a:pt x="149" y="742"/>
                  <a:pt x="115" y="768"/>
                  <a:pt x="74" y="768"/>
                </a:cubicBezTo>
                <a:cubicBezTo>
                  <a:pt x="52" y="768"/>
                  <a:pt x="3" y="763"/>
                  <a:pt x="3" y="735"/>
                </a:cubicBezTo>
                <a:cubicBezTo>
                  <a:pt x="3" y="724"/>
                  <a:pt x="11" y="714"/>
                  <a:pt x="23" y="714"/>
                </a:cubicBezTo>
                <a:cubicBezTo>
                  <a:pt x="37" y="714"/>
                  <a:pt x="53" y="726"/>
                  <a:pt x="72" y="726"/>
                </a:cubicBezTo>
                <a:cubicBezTo>
                  <a:pt x="91" y="726"/>
                  <a:pt x="102" y="715"/>
                  <a:pt x="102" y="701"/>
                </a:cubicBezTo>
                <a:cubicBezTo>
                  <a:pt x="102" y="666"/>
                  <a:pt x="4" y="687"/>
                  <a:pt x="4" y="619"/>
                </a:cubicBezTo>
                <a:cubicBezTo>
                  <a:pt x="4" y="578"/>
                  <a:pt x="38" y="553"/>
                  <a:pt x="77" y="553"/>
                </a:cubicBezTo>
                <a:cubicBezTo>
                  <a:pt x="93" y="553"/>
                  <a:pt x="134" y="559"/>
                  <a:pt x="134" y="582"/>
                </a:cubicBezTo>
                <a:moveTo>
                  <a:pt x="160" y="660"/>
                </a:moveTo>
                <a:cubicBezTo>
                  <a:pt x="160" y="599"/>
                  <a:pt x="201" y="553"/>
                  <a:pt x="261" y="553"/>
                </a:cubicBezTo>
                <a:cubicBezTo>
                  <a:pt x="320" y="553"/>
                  <a:pt x="361" y="601"/>
                  <a:pt x="361" y="660"/>
                </a:cubicBezTo>
                <a:cubicBezTo>
                  <a:pt x="361" y="721"/>
                  <a:pt x="321" y="768"/>
                  <a:pt x="261" y="768"/>
                </a:cubicBezTo>
                <a:cubicBezTo>
                  <a:pt x="201" y="768"/>
                  <a:pt x="160" y="721"/>
                  <a:pt x="160" y="660"/>
                </a:cubicBezTo>
                <a:moveTo>
                  <a:pt x="316" y="660"/>
                </a:moveTo>
                <a:cubicBezTo>
                  <a:pt x="316" y="625"/>
                  <a:pt x="297" y="593"/>
                  <a:pt x="261" y="593"/>
                </a:cubicBezTo>
                <a:cubicBezTo>
                  <a:pt x="224" y="593"/>
                  <a:pt x="206" y="625"/>
                  <a:pt x="206" y="660"/>
                </a:cubicBezTo>
                <a:cubicBezTo>
                  <a:pt x="206" y="696"/>
                  <a:pt x="223" y="728"/>
                  <a:pt x="261" y="728"/>
                </a:cubicBezTo>
                <a:cubicBezTo>
                  <a:pt x="298" y="728"/>
                  <a:pt x="316" y="696"/>
                  <a:pt x="316" y="660"/>
                </a:cubicBezTo>
                <a:moveTo>
                  <a:pt x="371" y="660"/>
                </a:moveTo>
                <a:cubicBezTo>
                  <a:pt x="371" y="599"/>
                  <a:pt x="412" y="553"/>
                  <a:pt x="472" y="553"/>
                </a:cubicBezTo>
                <a:cubicBezTo>
                  <a:pt x="531" y="553"/>
                  <a:pt x="573" y="601"/>
                  <a:pt x="573" y="660"/>
                </a:cubicBezTo>
                <a:cubicBezTo>
                  <a:pt x="573" y="721"/>
                  <a:pt x="532" y="768"/>
                  <a:pt x="472" y="768"/>
                </a:cubicBezTo>
                <a:cubicBezTo>
                  <a:pt x="413" y="768"/>
                  <a:pt x="371" y="721"/>
                  <a:pt x="371" y="660"/>
                </a:cubicBezTo>
                <a:moveTo>
                  <a:pt x="527" y="660"/>
                </a:moveTo>
                <a:cubicBezTo>
                  <a:pt x="527" y="625"/>
                  <a:pt x="509" y="593"/>
                  <a:pt x="472" y="593"/>
                </a:cubicBezTo>
                <a:cubicBezTo>
                  <a:pt x="436" y="593"/>
                  <a:pt x="417" y="625"/>
                  <a:pt x="417" y="660"/>
                </a:cubicBezTo>
                <a:cubicBezTo>
                  <a:pt x="417" y="696"/>
                  <a:pt x="435" y="728"/>
                  <a:pt x="472" y="728"/>
                </a:cubicBezTo>
                <a:cubicBezTo>
                  <a:pt x="509" y="728"/>
                  <a:pt x="527" y="696"/>
                  <a:pt x="527" y="660"/>
                </a:cubicBezTo>
                <a:moveTo>
                  <a:pt x="589" y="577"/>
                </a:moveTo>
                <a:cubicBezTo>
                  <a:pt x="589" y="563"/>
                  <a:pt x="599" y="554"/>
                  <a:pt x="611" y="554"/>
                </a:cubicBezTo>
                <a:cubicBezTo>
                  <a:pt x="618" y="554"/>
                  <a:pt x="627" y="559"/>
                  <a:pt x="631" y="564"/>
                </a:cubicBezTo>
                <a:lnTo>
                  <a:pt x="724" y="688"/>
                </a:lnTo>
                <a:lnTo>
                  <a:pt x="724" y="577"/>
                </a:lnTo>
                <a:cubicBezTo>
                  <a:pt x="724" y="563"/>
                  <a:pt x="733" y="554"/>
                  <a:pt x="746" y="554"/>
                </a:cubicBezTo>
                <a:cubicBezTo>
                  <a:pt x="759" y="554"/>
                  <a:pt x="768" y="563"/>
                  <a:pt x="768" y="577"/>
                </a:cubicBezTo>
                <a:lnTo>
                  <a:pt x="768" y="744"/>
                </a:lnTo>
                <a:cubicBezTo>
                  <a:pt x="768" y="758"/>
                  <a:pt x="759" y="766"/>
                  <a:pt x="746" y="766"/>
                </a:cubicBezTo>
                <a:cubicBezTo>
                  <a:pt x="741" y="766"/>
                  <a:pt x="732" y="762"/>
                  <a:pt x="728" y="757"/>
                </a:cubicBezTo>
                <a:lnTo>
                  <a:pt x="635" y="634"/>
                </a:lnTo>
                <a:lnTo>
                  <a:pt x="634" y="634"/>
                </a:lnTo>
                <a:lnTo>
                  <a:pt x="634" y="744"/>
                </a:lnTo>
                <a:cubicBezTo>
                  <a:pt x="634" y="758"/>
                  <a:pt x="625" y="766"/>
                  <a:pt x="611" y="766"/>
                </a:cubicBezTo>
                <a:cubicBezTo>
                  <a:pt x="599" y="766"/>
                  <a:pt x="589" y="758"/>
                  <a:pt x="589" y="744"/>
                </a:cubicBezTo>
                <a:lnTo>
                  <a:pt x="589" y="577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880920" y="5763240"/>
            <a:ext cx="39963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PLINK / GCTA / SAIGE site drivers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6276600" y="5763240"/>
            <a:ext cx="36900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Scaffolded, not yet implemented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reeform 324"/>
          <p:cNvSpPr/>
          <p:nvPr/>
        </p:nvSpPr>
        <p:spPr>
          <a:xfrm>
            <a:off x="5991120" y="629568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53" y="142"/>
                </a:moveTo>
                <a:lnTo>
                  <a:pt x="536" y="6"/>
                </a:lnTo>
                <a:cubicBezTo>
                  <a:pt x="517" y="-6"/>
                  <a:pt x="501" y="2"/>
                  <a:pt x="501" y="24"/>
                </a:cubicBezTo>
                <a:lnTo>
                  <a:pt x="501" y="64"/>
                </a:lnTo>
                <a:lnTo>
                  <a:pt x="42" y="64"/>
                </a:lnTo>
                <a:cubicBezTo>
                  <a:pt x="19" y="64"/>
                  <a:pt x="0" y="83"/>
                  <a:pt x="0" y="107"/>
                </a:cubicBezTo>
                <a:lnTo>
                  <a:pt x="0" y="235"/>
                </a:lnTo>
                <a:cubicBezTo>
                  <a:pt x="0" y="258"/>
                  <a:pt x="19" y="278"/>
                  <a:pt x="42" y="278"/>
                </a:cubicBezTo>
                <a:lnTo>
                  <a:pt x="501" y="278"/>
                </a:lnTo>
                <a:lnTo>
                  <a:pt x="501" y="318"/>
                </a:lnTo>
                <a:cubicBezTo>
                  <a:pt x="501" y="340"/>
                  <a:pt x="517" y="348"/>
                  <a:pt x="535" y="335"/>
                </a:cubicBezTo>
                <a:lnTo>
                  <a:pt x="754" y="188"/>
                </a:lnTo>
                <a:cubicBezTo>
                  <a:pt x="763" y="181"/>
                  <a:pt x="768" y="173"/>
                  <a:pt x="768" y="165"/>
                </a:cubicBezTo>
                <a:cubicBezTo>
                  <a:pt x="768" y="157"/>
                  <a:pt x="763" y="148"/>
                  <a:pt x="753" y="142"/>
                </a:cubicBezTo>
                <a:moveTo>
                  <a:pt x="134" y="583"/>
                </a:moveTo>
                <a:cubicBezTo>
                  <a:pt x="134" y="594"/>
                  <a:pt x="127" y="604"/>
                  <a:pt x="115" y="604"/>
                </a:cubicBezTo>
                <a:cubicBezTo>
                  <a:pt x="103" y="604"/>
                  <a:pt x="93" y="595"/>
                  <a:pt x="76" y="595"/>
                </a:cubicBezTo>
                <a:cubicBezTo>
                  <a:pt x="63" y="595"/>
                  <a:pt x="52" y="602"/>
                  <a:pt x="52" y="614"/>
                </a:cubicBezTo>
                <a:cubicBezTo>
                  <a:pt x="52" y="645"/>
                  <a:pt x="149" y="625"/>
                  <a:pt x="149" y="701"/>
                </a:cubicBezTo>
                <a:cubicBezTo>
                  <a:pt x="149" y="743"/>
                  <a:pt x="115" y="769"/>
                  <a:pt x="74" y="769"/>
                </a:cubicBezTo>
                <a:cubicBezTo>
                  <a:pt x="52" y="769"/>
                  <a:pt x="3" y="763"/>
                  <a:pt x="3" y="736"/>
                </a:cubicBezTo>
                <a:cubicBezTo>
                  <a:pt x="3" y="725"/>
                  <a:pt x="11" y="715"/>
                  <a:pt x="23" y="715"/>
                </a:cubicBezTo>
                <a:cubicBezTo>
                  <a:pt x="37" y="715"/>
                  <a:pt x="53" y="727"/>
                  <a:pt x="72" y="727"/>
                </a:cubicBezTo>
                <a:cubicBezTo>
                  <a:pt x="91" y="727"/>
                  <a:pt x="102" y="716"/>
                  <a:pt x="102" y="701"/>
                </a:cubicBezTo>
                <a:cubicBezTo>
                  <a:pt x="102" y="667"/>
                  <a:pt x="4" y="688"/>
                  <a:pt x="4" y="620"/>
                </a:cubicBezTo>
                <a:cubicBezTo>
                  <a:pt x="4" y="579"/>
                  <a:pt x="38" y="553"/>
                  <a:pt x="77" y="553"/>
                </a:cubicBezTo>
                <a:cubicBezTo>
                  <a:pt x="93" y="553"/>
                  <a:pt x="134" y="559"/>
                  <a:pt x="134" y="583"/>
                </a:cubicBezTo>
                <a:moveTo>
                  <a:pt x="160" y="661"/>
                </a:moveTo>
                <a:cubicBezTo>
                  <a:pt x="160" y="600"/>
                  <a:pt x="201" y="553"/>
                  <a:pt x="261" y="553"/>
                </a:cubicBezTo>
                <a:cubicBezTo>
                  <a:pt x="320" y="553"/>
                  <a:pt x="361" y="602"/>
                  <a:pt x="361" y="661"/>
                </a:cubicBezTo>
                <a:cubicBezTo>
                  <a:pt x="361" y="722"/>
                  <a:pt x="321" y="769"/>
                  <a:pt x="261" y="769"/>
                </a:cubicBezTo>
                <a:cubicBezTo>
                  <a:pt x="201" y="769"/>
                  <a:pt x="160" y="722"/>
                  <a:pt x="160" y="661"/>
                </a:cubicBezTo>
                <a:moveTo>
                  <a:pt x="316" y="661"/>
                </a:moveTo>
                <a:cubicBezTo>
                  <a:pt x="316" y="626"/>
                  <a:pt x="297" y="594"/>
                  <a:pt x="261" y="594"/>
                </a:cubicBezTo>
                <a:cubicBezTo>
                  <a:pt x="224" y="594"/>
                  <a:pt x="206" y="626"/>
                  <a:pt x="206" y="661"/>
                </a:cubicBezTo>
                <a:cubicBezTo>
                  <a:pt x="206" y="697"/>
                  <a:pt x="223" y="728"/>
                  <a:pt x="261" y="728"/>
                </a:cubicBezTo>
                <a:cubicBezTo>
                  <a:pt x="298" y="728"/>
                  <a:pt x="316" y="697"/>
                  <a:pt x="316" y="661"/>
                </a:cubicBezTo>
                <a:moveTo>
                  <a:pt x="371" y="661"/>
                </a:moveTo>
                <a:cubicBezTo>
                  <a:pt x="371" y="600"/>
                  <a:pt x="412" y="553"/>
                  <a:pt x="472" y="553"/>
                </a:cubicBezTo>
                <a:cubicBezTo>
                  <a:pt x="531" y="553"/>
                  <a:pt x="573" y="602"/>
                  <a:pt x="573" y="661"/>
                </a:cubicBezTo>
                <a:cubicBezTo>
                  <a:pt x="573" y="722"/>
                  <a:pt x="532" y="769"/>
                  <a:pt x="472" y="769"/>
                </a:cubicBezTo>
                <a:cubicBezTo>
                  <a:pt x="413" y="769"/>
                  <a:pt x="371" y="722"/>
                  <a:pt x="371" y="661"/>
                </a:cubicBezTo>
                <a:moveTo>
                  <a:pt x="527" y="661"/>
                </a:moveTo>
                <a:cubicBezTo>
                  <a:pt x="527" y="626"/>
                  <a:pt x="509" y="594"/>
                  <a:pt x="472" y="594"/>
                </a:cubicBezTo>
                <a:cubicBezTo>
                  <a:pt x="436" y="594"/>
                  <a:pt x="417" y="626"/>
                  <a:pt x="417" y="661"/>
                </a:cubicBezTo>
                <a:cubicBezTo>
                  <a:pt x="417" y="697"/>
                  <a:pt x="435" y="728"/>
                  <a:pt x="472" y="728"/>
                </a:cubicBezTo>
                <a:cubicBezTo>
                  <a:pt x="509" y="728"/>
                  <a:pt x="527" y="697"/>
                  <a:pt x="527" y="661"/>
                </a:cubicBezTo>
                <a:moveTo>
                  <a:pt x="589" y="578"/>
                </a:moveTo>
                <a:cubicBezTo>
                  <a:pt x="589" y="563"/>
                  <a:pt x="599" y="555"/>
                  <a:pt x="611" y="555"/>
                </a:cubicBezTo>
                <a:cubicBezTo>
                  <a:pt x="618" y="555"/>
                  <a:pt x="627" y="559"/>
                  <a:pt x="631" y="565"/>
                </a:cubicBezTo>
                <a:lnTo>
                  <a:pt x="724" y="689"/>
                </a:lnTo>
                <a:lnTo>
                  <a:pt x="724" y="578"/>
                </a:lnTo>
                <a:cubicBezTo>
                  <a:pt x="724" y="563"/>
                  <a:pt x="733" y="555"/>
                  <a:pt x="746" y="555"/>
                </a:cubicBezTo>
                <a:cubicBezTo>
                  <a:pt x="759" y="555"/>
                  <a:pt x="768" y="563"/>
                  <a:pt x="768" y="578"/>
                </a:cubicBezTo>
                <a:lnTo>
                  <a:pt x="768" y="744"/>
                </a:lnTo>
                <a:cubicBezTo>
                  <a:pt x="768" y="759"/>
                  <a:pt x="759" y="767"/>
                  <a:pt x="746" y="767"/>
                </a:cubicBezTo>
                <a:cubicBezTo>
                  <a:pt x="741" y="767"/>
                  <a:pt x="732" y="763"/>
                  <a:pt x="728" y="757"/>
                </a:cubicBezTo>
                <a:lnTo>
                  <a:pt x="635" y="635"/>
                </a:lnTo>
                <a:lnTo>
                  <a:pt x="634" y="635"/>
                </a:lnTo>
                <a:lnTo>
                  <a:pt x="634" y="744"/>
                </a:lnTo>
                <a:cubicBezTo>
                  <a:pt x="634" y="759"/>
                  <a:pt x="625" y="767"/>
                  <a:pt x="611" y="767"/>
                </a:cubicBezTo>
                <a:cubicBezTo>
                  <a:pt x="599" y="767"/>
                  <a:pt x="589" y="759"/>
                  <a:pt x="589" y="744"/>
                </a:cubicBezTo>
                <a:lnTo>
                  <a:pt x="589" y="57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880920" y="6296760"/>
            <a:ext cx="30466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Polygenic risk scores (PRS)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6276600" y="6296760"/>
            <a:ext cx="4443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Open question, out of scope this round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166292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Freeform 3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reeform 3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reeform 3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reeform 331"/>
          <p:cNvSpPr/>
          <p:nvPr/>
        </p:nvSpPr>
        <p:spPr>
          <a:xfrm>
            <a:off x="757080" y="272880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2"/>
                  <a:pt x="29680" y="3051"/>
                  <a:pt x="29676" y="3060"/>
                </a:cubicBezTo>
                <a:cubicBezTo>
                  <a:pt x="29672" y="3068"/>
                  <a:pt x="29668" y="3077"/>
                  <a:pt x="29663" y="3085"/>
                </a:cubicBezTo>
                <a:cubicBezTo>
                  <a:pt x="29657" y="3093"/>
                  <a:pt x="29651" y="3100"/>
                  <a:pt x="29645" y="3107"/>
                </a:cubicBezTo>
                <a:cubicBezTo>
                  <a:pt x="29638" y="3113"/>
                  <a:pt x="29630" y="3120"/>
                  <a:pt x="29623" y="3125"/>
                </a:cubicBezTo>
                <a:cubicBezTo>
                  <a:pt x="29615" y="3130"/>
                  <a:pt x="29606" y="3135"/>
                  <a:pt x="29597" y="3138"/>
                </a:cubicBezTo>
                <a:cubicBezTo>
                  <a:pt x="29589" y="3142"/>
                  <a:pt x="29579" y="3145"/>
                  <a:pt x="29570" y="3147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7"/>
                </a:cubicBezTo>
                <a:cubicBezTo>
                  <a:pt x="108" y="3145"/>
                  <a:pt x="99" y="3142"/>
                  <a:pt x="90" y="3138"/>
                </a:cubicBezTo>
                <a:cubicBezTo>
                  <a:pt x="81" y="3135"/>
                  <a:pt x="73" y="3130"/>
                  <a:pt x="65" y="3125"/>
                </a:cubicBezTo>
                <a:cubicBezTo>
                  <a:pt x="57" y="3120"/>
                  <a:pt x="49" y="3113"/>
                  <a:pt x="43" y="3107"/>
                </a:cubicBezTo>
                <a:cubicBezTo>
                  <a:pt x="36" y="3100"/>
                  <a:pt x="30" y="3093"/>
                  <a:pt x="24" y="3085"/>
                </a:cubicBezTo>
                <a:cubicBezTo>
                  <a:pt x="19" y="3077"/>
                  <a:pt x="15" y="3068"/>
                  <a:pt x="11" y="3060"/>
                </a:cubicBezTo>
                <a:cubicBezTo>
                  <a:pt x="7" y="3051"/>
                  <a:pt x="5" y="3042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reeform 332"/>
          <p:cNvSpPr/>
          <p:nvPr/>
        </p:nvSpPr>
        <p:spPr>
          <a:xfrm>
            <a:off x="757080" y="2728800"/>
            <a:ext cx="10687320" cy="1133640"/>
          </a:xfrm>
          <a:custGeom>
            <a:avLst/>
            <a:gdLst/>
            <a:ahLst/>
            <a:cxnLst/>
            <a:rect l="0" t="0" r="r" b="b"/>
            <a:pathLst>
              <a:path w="29687" h="3149">
                <a:moveTo>
                  <a:pt x="0" y="30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004"/>
                </a:lnTo>
                <a:cubicBezTo>
                  <a:pt x="29687" y="3013"/>
                  <a:pt x="29686" y="3023"/>
                  <a:pt x="29684" y="3032"/>
                </a:cubicBezTo>
                <a:cubicBezTo>
                  <a:pt x="29683" y="3042"/>
                  <a:pt x="29680" y="3051"/>
                  <a:pt x="29676" y="3060"/>
                </a:cubicBezTo>
                <a:cubicBezTo>
                  <a:pt x="29672" y="3068"/>
                  <a:pt x="29668" y="3077"/>
                  <a:pt x="29663" y="3085"/>
                </a:cubicBezTo>
                <a:cubicBezTo>
                  <a:pt x="29657" y="3093"/>
                  <a:pt x="29651" y="3100"/>
                  <a:pt x="29645" y="3107"/>
                </a:cubicBezTo>
                <a:cubicBezTo>
                  <a:pt x="29638" y="3113"/>
                  <a:pt x="29630" y="3120"/>
                  <a:pt x="29623" y="3125"/>
                </a:cubicBezTo>
                <a:cubicBezTo>
                  <a:pt x="29615" y="3130"/>
                  <a:pt x="29606" y="3135"/>
                  <a:pt x="29597" y="3138"/>
                </a:cubicBezTo>
                <a:cubicBezTo>
                  <a:pt x="29589" y="3142"/>
                  <a:pt x="29579" y="3145"/>
                  <a:pt x="29570" y="3147"/>
                </a:cubicBezTo>
                <a:cubicBezTo>
                  <a:pt x="29561" y="3148"/>
                  <a:pt x="29551" y="3149"/>
                  <a:pt x="29542" y="3149"/>
                </a:cubicBezTo>
                <a:lnTo>
                  <a:pt x="145" y="3149"/>
                </a:lnTo>
                <a:cubicBezTo>
                  <a:pt x="136" y="3149"/>
                  <a:pt x="126" y="3148"/>
                  <a:pt x="117" y="3147"/>
                </a:cubicBezTo>
                <a:cubicBezTo>
                  <a:pt x="108" y="3145"/>
                  <a:pt x="99" y="3142"/>
                  <a:pt x="90" y="3138"/>
                </a:cubicBezTo>
                <a:cubicBezTo>
                  <a:pt x="81" y="3135"/>
                  <a:pt x="73" y="3130"/>
                  <a:pt x="65" y="3125"/>
                </a:cubicBezTo>
                <a:cubicBezTo>
                  <a:pt x="57" y="3120"/>
                  <a:pt x="49" y="3113"/>
                  <a:pt x="43" y="3107"/>
                </a:cubicBezTo>
                <a:cubicBezTo>
                  <a:pt x="36" y="3100"/>
                  <a:pt x="30" y="3093"/>
                  <a:pt x="24" y="3085"/>
                </a:cubicBezTo>
                <a:cubicBezTo>
                  <a:pt x="19" y="3077"/>
                  <a:pt x="15" y="3068"/>
                  <a:pt x="11" y="3060"/>
                </a:cubicBezTo>
                <a:cubicBezTo>
                  <a:pt x="7" y="3051"/>
                  <a:pt x="5" y="3042"/>
                  <a:pt x="3" y="3032"/>
                </a:cubicBezTo>
                <a:cubicBezTo>
                  <a:pt x="1" y="3023"/>
                  <a:pt x="0" y="3013"/>
                  <a:pt x="0" y="300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TextBox 333"/>
          <p:cNvSpPr txBox="1"/>
          <p:nvPr/>
        </p:nvSpPr>
        <p:spPr>
          <a:xfrm>
            <a:off x="747720" y="2041200"/>
            <a:ext cx="21920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Try it yourself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2885760"/>
            <a:ext cx="607968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git </a:t>
            </a:r>
            <a:r>
              <a:rPr lang="en-US" sz="185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clone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https://github.com/collaborativebioinformatics/FedGX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914400" y="3152520"/>
            <a:ext cx="93312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5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cd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FedGX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914400" y="3428640"/>
            <a:ext cx="5470200" cy="26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./Scripts/generateData.sh 1 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no real cohort data needed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747720" y="4077360"/>
            <a:ext cx="2733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Full setup: </a:t>
            </a:r>
            <a:r>
              <a:rPr lang="en-US" sz="2170" b="0" u="none" strike="noStrike">
                <a:solidFill>
                  <a:srgbClr val="0969DA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README.md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TextBox 339"/>
          <p:cNvSpPr txBox="1"/>
          <p:nvPr/>
        </p:nvSpPr>
        <p:spPr>
          <a:xfrm>
            <a:off x="1170036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Freeform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reeform 3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reeform 3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reeform 343"/>
          <p:cNvSpPr/>
          <p:nvPr/>
        </p:nvSpPr>
        <p:spPr>
          <a:xfrm>
            <a:off x="752400" y="2095200"/>
            <a:ext cx="2772000" cy="124200"/>
          </a:xfrm>
          <a:custGeom>
            <a:avLst/>
            <a:gdLst/>
            <a:ahLst/>
            <a:cxnLst/>
            <a:rect l="0" t="0" r="r" b="b"/>
            <a:pathLst>
              <a:path w="7700" h="345">
                <a:moveTo>
                  <a:pt x="0" y="0"/>
                </a:moveTo>
                <a:lnTo>
                  <a:pt x="7700" y="0"/>
                </a:lnTo>
                <a:lnTo>
                  <a:pt x="7700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reeform 344"/>
          <p:cNvSpPr/>
          <p:nvPr/>
        </p:nvSpPr>
        <p:spPr>
          <a:xfrm>
            <a:off x="3524040" y="2095200"/>
            <a:ext cx="7382160" cy="124200"/>
          </a:xfrm>
          <a:custGeom>
            <a:avLst/>
            <a:gdLst/>
            <a:ahLst/>
            <a:cxnLst/>
            <a:rect l="0" t="0" r="r" b="b"/>
            <a:pathLst>
              <a:path w="20506" h="345">
                <a:moveTo>
                  <a:pt x="0" y="0"/>
                </a:moveTo>
                <a:lnTo>
                  <a:pt x="20506" y="0"/>
                </a:lnTo>
                <a:lnTo>
                  <a:pt x="20506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reeform 345"/>
          <p:cNvSpPr/>
          <p:nvPr/>
        </p:nvSpPr>
        <p:spPr>
          <a:xfrm>
            <a:off x="752400" y="2219040"/>
            <a:ext cx="2772000" cy="533880"/>
          </a:xfrm>
          <a:custGeom>
            <a:avLst/>
            <a:gdLst/>
            <a:ahLst/>
            <a:cxnLst/>
            <a:rect l="0" t="0" r="r" b="b"/>
            <a:pathLst>
              <a:path w="7700" h="1483">
                <a:moveTo>
                  <a:pt x="0" y="0"/>
                </a:moveTo>
                <a:lnTo>
                  <a:pt x="7700" y="0"/>
                </a:lnTo>
                <a:lnTo>
                  <a:pt x="7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reeform 346"/>
          <p:cNvSpPr/>
          <p:nvPr/>
        </p:nvSpPr>
        <p:spPr>
          <a:xfrm>
            <a:off x="3524040" y="2219040"/>
            <a:ext cx="7382160" cy="533880"/>
          </a:xfrm>
          <a:custGeom>
            <a:avLst/>
            <a:gdLst/>
            <a:ahLst/>
            <a:cxnLst/>
            <a:rect l="0" t="0" r="r" b="b"/>
            <a:pathLst>
              <a:path w="20506" h="1483">
                <a:moveTo>
                  <a:pt x="0" y="0"/>
                </a:moveTo>
                <a:lnTo>
                  <a:pt x="20506" y="0"/>
                </a:lnTo>
                <a:lnTo>
                  <a:pt x="2050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reeform 347"/>
          <p:cNvSpPr/>
          <p:nvPr/>
        </p:nvSpPr>
        <p:spPr>
          <a:xfrm>
            <a:off x="752400" y="2752560"/>
            <a:ext cx="2772000" cy="543240"/>
          </a:xfrm>
          <a:custGeom>
            <a:avLst/>
            <a:gdLst/>
            <a:ahLst/>
            <a:cxnLst/>
            <a:rect l="0" t="0" r="r" b="b"/>
            <a:pathLst>
              <a:path w="7700" h="1509">
                <a:moveTo>
                  <a:pt x="0" y="0"/>
                </a:moveTo>
                <a:lnTo>
                  <a:pt x="7700" y="0"/>
                </a:lnTo>
                <a:lnTo>
                  <a:pt x="7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reeform 348"/>
          <p:cNvSpPr/>
          <p:nvPr/>
        </p:nvSpPr>
        <p:spPr>
          <a:xfrm>
            <a:off x="3524040" y="2752560"/>
            <a:ext cx="7382160" cy="543240"/>
          </a:xfrm>
          <a:custGeom>
            <a:avLst/>
            <a:gdLst/>
            <a:ahLst/>
            <a:cxnLst/>
            <a:rect l="0" t="0" r="r" b="b"/>
            <a:pathLst>
              <a:path w="20506" h="1509">
                <a:moveTo>
                  <a:pt x="0" y="0"/>
                </a:moveTo>
                <a:lnTo>
                  <a:pt x="20506" y="0"/>
                </a:lnTo>
                <a:lnTo>
                  <a:pt x="2050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reeform 349"/>
          <p:cNvSpPr/>
          <p:nvPr/>
        </p:nvSpPr>
        <p:spPr>
          <a:xfrm>
            <a:off x="752400" y="3295440"/>
            <a:ext cx="2772000" cy="533880"/>
          </a:xfrm>
          <a:custGeom>
            <a:avLst/>
            <a:gdLst/>
            <a:ahLst/>
            <a:cxnLst/>
            <a:rect l="0" t="0" r="r" b="b"/>
            <a:pathLst>
              <a:path w="7700" h="1483">
                <a:moveTo>
                  <a:pt x="0" y="0"/>
                </a:moveTo>
                <a:lnTo>
                  <a:pt x="7700" y="0"/>
                </a:lnTo>
                <a:lnTo>
                  <a:pt x="7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reeform 350"/>
          <p:cNvSpPr/>
          <p:nvPr/>
        </p:nvSpPr>
        <p:spPr>
          <a:xfrm>
            <a:off x="3524040" y="3295440"/>
            <a:ext cx="7382160" cy="533880"/>
          </a:xfrm>
          <a:custGeom>
            <a:avLst/>
            <a:gdLst/>
            <a:ahLst/>
            <a:cxnLst/>
            <a:rect l="0" t="0" r="r" b="b"/>
            <a:pathLst>
              <a:path w="20506" h="1483">
                <a:moveTo>
                  <a:pt x="0" y="0"/>
                </a:moveTo>
                <a:lnTo>
                  <a:pt x="20506" y="0"/>
                </a:lnTo>
                <a:lnTo>
                  <a:pt x="2050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reeform 351"/>
          <p:cNvSpPr/>
          <p:nvPr/>
        </p:nvSpPr>
        <p:spPr>
          <a:xfrm>
            <a:off x="752400" y="3828960"/>
            <a:ext cx="2772000" cy="543240"/>
          </a:xfrm>
          <a:custGeom>
            <a:avLst/>
            <a:gdLst/>
            <a:ahLst/>
            <a:cxnLst/>
            <a:rect l="0" t="0" r="r" b="b"/>
            <a:pathLst>
              <a:path w="7700" h="1509">
                <a:moveTo>
                  <a:pt x="0" y="0"/>
                </a:moveTo>
                <a:lnTo>
                  <a:pt x="7700" y="0"/>
                </a:lnTo>
                <a:lnTo>
                  <a:pt x="770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reeform 352"/>
          <p:cNvSpPr/>
          <p:nvPr/>
        </p:nvSpPr>
        <p:spPr>
          <a:xfrm>
            <a:off x="3524040" y="3828960"/>
            <a:ext cx="7382160" cy="543240"/>
          </a:xfrm>
          <a:custGeom>
            <a:avLst/>
            <a:gdLst/>
            <a:ahLst/>
            <a:cxnLst/>
            <a:rect l="0" t="0" r="r" b="b"/>
            <a:pathLst>
              <a:path w="20506" h="1509">
                <a:moveTo>
                  <a:pt x="0" y="0"/>
                </a:moveTo>
                <a:lnTo>
                  <a:pt x="20506" y="0"/>
                </a:lnTo>
                <a:lnTo>
                  <a:pt x="2050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reeform 353"/>
          <p:cNvSpPr/>
          <p:nvPr/>
        </p:nvSpPr>
        <p:spPr>
          <a:xfrm>
            <a:off x="752400" y="4371840"/>
            <a:ext cx="2772000" cy="533880"/>
          </a:xfrm>
          <a:custGeom>
            <a:avLst/>
            <a:gdLst/>
            <a:ahLst/>
            <a:cxnLst/>
            <a:rect l="0" t="0" r="r" b="b"/>
            <a:pathLst>
              <a:path w="7700" h="1483">
                <a:moveTo>
                  <a:pt x="0" y="0"/>
                </a:moveTo>
                <a:lnTo>
                  <a:pt x="7700" y="0"/>
                </a:lnTo>
                <a:lnTo>
                  <a:pt x="770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reeform 354"/>
          <p:cNvSpPr/>
          <p:nvPr/>
        </p:nvSpPr>
        <p:spPr>
          <a:xfrm>
            <a:off x="3524040" y="4371840"/>
            <a:ext cx="7382160" cy="533880"/>
          </a:xfrm>
          <a:custGeom>
            <a:avLst/>
            <a:gdLst/>
            <a:ahLst/>
            <a:cxnLst/>
            <a:rect l="0" t="0" r="r" b="b"/>
            <a:pathLst>
              <a:path w="20506" h="1483">
                <a:moveTo>
                  <a:pt x="0" y="0"/>
                </a:moveTo>
                <a:lnTo>
                  <a:pt x="20506" y="0"/>
                </a:lnTo>
                <a:lnTo>
                  <a:pt x="2050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reeform 355"/>
          <p:cNvSpPr/>
          <p:nvPr/>
        </p:nvSpPr>
        <p:spPr>
          <a:xfrm>
            <a:off x="752400" y="2085840"/>
            <a:ext cx="9720" cy="133560"/>
          </a:xfrm>
          <a:custGeom>
            <a:avLst/>
            <a:gdLst/>
            <a:ahLst/>
            <a:cxnLst/>
            <a:rect l="0" t="0" r="r" b="b"/>
            <a:pathLst>
              <a:path w="27" h="371">
                <a:moveTo>
                  <a:pt x="0" y="0"/>
                </a:moveTo>
                <a:lnTo>
                  <a:pt x="27" y="0"/>
                </a:lnTo>
                <a:lnTo>
                  <a:pt x="27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reeform 356"/>
          <p:cNvSpPr/>
          <p:nvPr/>
        </p:nvSpPr>
        <p:spPr>
          <a:xfrm>
            <a:off x="752400" y="208584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reeform 357"/>
          <p:cNvSpPr/>
          <p:nvPr/>
        </p:nvSpPr>
        <p:spPr>
          <a:xfrm>
            <a:off x="3524040" y="2085840"/>
            <a:ext cx="10080" cy="133560"/>
          </a:xfrm>
          <a:custGeom>
            <a:avLst/>
            <a:gdLst/>
            <a:ahLst/>
            <a:cxnLst/>
            <a:rect l="0" t="0" r="r" b="b"/>
            <a:pathLst>
              <a:path w="28" h="371">
                <a:moveTo>
                  <a:pt x="0" y="0"/>
                </a:moveTo>
                <a:lnTo>
                  <a:pt x="28" y="0"/>
                </a:lnTo>
                <a:lnTo>
                  <a:pt x="28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reeform 358"/>
          <p:cNvSpPr/>
          <p:nvPr/>
        </p:nvSpPr>
        <p:spPr>
          <a:xfrm>
            <a:off x="3533760" y="208584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reeform 359"/>
          <p:cNvSpPr/>
          <p:nvPr/>
        </p:nvSpPr>
        <p:spPr>
          <a:xfrm>
            <a:off x="10896480" y="2085840"/>
            <a:ext cx="9720" cy="133560"/>
          </a:xfrm>
          <a:custGeom>
            <a:avLst/>
            <a:gdLst/>
            <a:ahLst/>
            <a:cxnLst/>
            <a:rect l="0" t="0" r="r" b="b"/>
            <a:pathLst>
              <a:path w="27" h="371">
                <a:moveTo>
                  <a:pt x="0" y="0"/>
                </a:moveTo>
                <a:lnTo>
                  <a:pt x="27" y="0"/>
                </a:lnTo>
                <a:lnTo>
                  <a:pt x="27" y="371"/>
                </a:lnTo>
                <a:lnTo>
                  <a:pt x="0" y="37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reeform 360"/>
          <p:cNvSpPr/>
          <p:nvPr/>
        </p:nvSpPr>
        <p:spPr>
          <a:xfrm>
            <a:off x="752400" y="220968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 361"/>
          <p:cNvSpPr/>
          <p:nvPr/>
        </p:nvSpPr>
        <p:spPr>
          <a:xfrm>
            <a:off x="3533760" y="220968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reeform 362"/>
          <p:cNvSpPr/>
          <p:nvPr/>
        </p:nvSpPr>
        <p:spPr>
          <a:xfrm>
            <a:off x="752400" y="2219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reeform 363"/>
          <p:cNvSpPr/>
          <p:nvPr/>
        </p:nvSpPr>
        <p:spPr>
          <a:xfrm>
            <a:off x="3524040" y="22190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reeform 364"/>
          <p:cNvSpPr/>
          <p:nvPr/>
        </p:nvSpPr>
        <p:spPr>
          <a:xfrm>
            <a:off x="10896480" y="2219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reeform 365"/>
          <p:cNvSpPr/>
          <p:nvPr/>
        </p:nvSpPr>
        <p:spPr>
          <a:xfrm>
            <a:off x="752400" y="27619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reeform 366"/>
          <p:cNvSpPr/>
          <p:nvPr/>
        </p:nvSpPr>
        <p:spPr>
          <a:xfrm>
            <a:off x="752400" y="275256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reeform 367"/>
          <p:cNvSpPr/>
          <p:nvPr/>
        </p:nvSpPr>
        <p:spPr>
          <a:xfrm>
            <a:off x="3524040" y="276192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reeform 368"/>
          <p:cNvSpPr/>
          <p:nvPr/>
        </p:nvSpPr>
        <p:spPr>
          <a:xfrm>
            <a:off x="3533760" y="275256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reeform 369"/>
          <p:cNvSpPr/>
          <p:nvPr/>
        </p:nvSpPr>
        <p:spPr>
          <a:xfrm>
            <a:off x="10896480" y="27619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reeform 370"/>
          <p:cNvSpPr/>
          <p:nvPr/>
        </p:nvSpPr>
        <p:spPr>
          <a:xfrm>
            <a:off x="752400" y="32954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reeform 371"/>
          <p:cNvSpPr/>
          <p:nvPr/>
        </p:nvSpPr>
        <p:spPr>
          <a:xfrm>
            <a:off x="752400" y="328608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reeform 372"/>
          <p:cNvSpPr/>
          <p:nvPr/>
        </p:nvSpPr>
        <p:spPr>
          <a:xfrm>
            <a:off x="3524040" y="32954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reeform 373"/>
          <p:cNvSpPr/>
          <p:nvPr/>
        </p:nvSpPr>
        <p:spPr>
          <a:xfrm>
            <a:off x="3533760" y="328608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reeform 374"/>
          <p:cNvSpPr/>
          <p:nvPr/>
        </p:nvSpPr>
        <p:spPr>
          <a:xfrm>
            <a:off x="10896480" y="32954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reeform 375"/>
          <p:cNvSpPr/>
          <p:nvPr/>
        </p:nvSpPr>
        <p:spPr>
          <a:xfrm>
            <a:off x="752400" y="38383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reeform 376"/>
          <p:cNvSpPr/>
          <p:nvPr/>
        </p:nvSpPr>
        <p:spPr>
          <a:xfrm>
            <a:off x="752400" y="382896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reeform 377"/>
          <p:cNvSpPr/>
          <p:nvPr/>
        </p:nvSpPr>
        <p:spPr>
          <a:xfrm>
            <a:off x="3524040" y="383832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reeform 378"/>
          <p:cNvSpPr/>
          <p:nvPr/>
        </p:nvSpPr>
        <p:spPr>
          <a:xfrm>
            <a:off x="3533760" y="382896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reeform 379"/>
          <p:cNvSpPr/>
          <p:nvPr/>
        </p:nvSpPr>
        <p:spPr>
          <a:xfrm>
            <a:off x="10896480" y="38383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reeform 380"/>
          <p:cNvSpPr/>
          <p:nvPr/>
        </p:nvSpPr>
        <p:spPr>
          <a:xfrm>
            <a:off x="752400" y="43718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reeform 381"/>
          <p:cNvSpPr/>
          <p:nvPr/>
        </p:nvSpPr>
        <p:spPr>
          <a:xfrm>
            <a:off x="752400" y="4362120"/>
            <a:ext cx="2781720" cy="10080"/>
          </a:xfrm>
          <a:custGeom>
            <a:avLst/>
            <a:gdLst/>
            <a:ahLst/>
            <a:cxn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reeform 382"/>
          <p:cNvSpPr/>
          <p:nvPr/>
        </p:nvSpPr>
        <p:spPr>
          <a:xfrm>
            <a:off x="3524040" y="43718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reeform 383"/>
          <p:cNvSpPr/>
          <p:nvPr/>
        </p:nvSpPr>
        <p:spPr>
          <a:xfrm>
            <a:off x="3533760" y="4362120"/>
            <a:ext cx="7372440" cy="10080"/>
          </a:xfrm>
          <a:custGeom>
            <a:avLst/>
            <a:gdLst/>
            <a:ahLst/>
            <a:cxnLst/>
            <a:rect l="0" t="0" r="r" b="b"/>
            <a:pathLst>
              <a:path w="20479" h="28">
                <a:moveTo>
                  <a:pt x="0" y="0"/>
                </a:moveTo>
                <a:lnTo>
                  <a:pt x="20479" y="0"/>
                </a:lnTo>
                <a:lnTo>
                  <a:pt x="204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reeform 384"/>
          <p:cNvSpPr/>
          <p:nvPr/>
        </p:nvSpPr>
        <p:spPr>
          <a:xfrm>
            <a:off x="10896480" y="43718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reeform 385"/>
          <p:cNvSpPr/>
          <p:nvPr/>
        </p:nvSpPr>
        <p:spPr>
          <a:xfrm>
            <a:off x="752400" y="4905360"/>
            <a:ext cx="2781720" cy="9720"/>
          </a:xfrm>
          <a:custGeom>
            <a:avLst/>
            <a:gdLst/>
            <a:ahLst/>
            <a:cxn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reeform 386"/>
          <p:cNvSpPr/>
          <p:nvPr/>
        </p:nvSpPr>
        <p:spPr>
          <a:xfrm>
            <a:off x="3533760" y="4905360"/>
            <a:ext cx="7372440" cy="9720"/>
          </a:xfrm>
          <a:custGeom>
            <a:avLst/>
            <a:gdLst/>
            <a:ahLst/>
            <a:cxnLst/>
            <a:rect l="0" t="0" r="r" b="b"/>
            <a:pathLst>
              <a:path w="20479" h="27">
                <a:moveTo>
                  <a:pt x="0" y="0"/>
                </a:moveTo>
                <a:lnTo>
                  <a:pt x="20479" y="0"/>
                </a:lnTo>
                <a:lnTo>
                  <a:pt x="2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47720" y="1412640"/>
            <a:ext cx="8193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Team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TextBox 388"/>
          <p:cNvSpPr txBox="1"/>
          <p:nvPr/>
        </p:nvSpPr>
        <p:spPr>
          <a:xfrm>
            <a:off x="880920" y="2334240"/>
            <a:ext cx="16200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Marlene Rietz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TextBox 389"/>
          <p:cNvSpPr txBox="1"/>
          <p:nvPr/>
        </p:nvSpPr>
        <p:spPr>
          <a:xfrm>
            <a:off x="3656160" y="2334240"/>
            <a:ext cx="68518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Steno Diabetes Center Odense · UCPH · Karolinska Institutet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TextBox 390"/>
          <p:cNvSpPr txBox="1"/>
          <p:nvPr/>
        </p:nvSpPr>
        <p:spPr>
          <a:xfrm>
            <a:off x="880920" y="2877120"/>
            <a:ext cx="23983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Allan Lind-Thomsen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3656160" y="2877120"/>
            <a:ext cx="39286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OPEN, Odense University Hospital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880920" y="3410640"/>
            <a:ext cx="153216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Xiaoping Wu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TextBox 393"/>
          <p:cNvSpPr txBox="1"/>
          <p:nvPr/>
        </p:nvSpPr>
        <p:spPr>
          <a:xfrm>
            <a:off x="3656160" y="3410640"/>
            <a:ext cx="29041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University of Gothenburg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880920" y="3953520"/>
            <a:ext cx="13730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Moh Sallam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Box 395"/>
          <p:cNvSpPr txBox="1"/>
          <p:nvPr/>
        </p:nvSpPr>
        <p:spPr>
          <a:xfrm>
            <a:off x="3656160" y="3953520"/>
            <a:ext cx="20674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Aarhus University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880920" y="4487040"/>
            <a:ext cx="181152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Pravesh Parekh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3656160" y="4487040"/>
            <a:ext cx="493380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J. Craig Venter Institute · University of Oslo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TextBox 398"/>
          <p:cNvSpPr txBox="1"/>
          <p:nvPr/>
        </p:nvSpPr>
        <p:spPr>
          <a:xfrm>
            <a:off x="747720" y="5125320"/>
            <a:ext cx="562104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Built at the Nordic Biobank × NVIDIA Hackathon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TextBox 399"/>
          <p:cNvSpPr txBox="1"/>
          <p:nvPr/>
        </p:nvSpPr>
        <p:spPr>
          <a:xfrm>
            <a:off x="1167156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Freeform 4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reeform 4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reeform 4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747720" y="2843280"/>
            <a:ext cx="199908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Thank you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747720" y="3696480"/>
            <a:ext cx="5498280" cy="31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github.com/collaborativebioinformatics/FedGX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11665800" y="6368040"/>
            <a:ext cx="228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580</Words>
  <Application>Microsoft Macintosh PowerPoint</Application>
  <PresentationFormat>Widescreen</PresentationFormat>
  <Paragraphs>111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.SFNS-Regular_wdth_opsz180000_GRAD_wght</vt:lpstr>
      <vt:lpstr>.SFNS-Regular_wdth_opsz1D0000_GRAD_wght</vt:lpstr>
      <vt:lpstr>.SFNS-Regular_wdth_opsz1D0000_GRAD_wght2580000</vt:lpstr>
      <vt:lpstr>.SFNS-Regular_wdth_opsz1FE65F_GRAD_wght2580000</vt:lpstr>
      <vt:lpstr>.SFNS-Regular_wdth_opsz25B333_GRAD_wght2580000</vt:lpstr>
      <vt:lpstr>.SFNS-Regular_wdth_opsz2E6666_GRAD_wght2580000</vt:lpstr>
      <vt:lpstr>Aptos</vt:lpstr>
      <vt:lpstr>Arial</vt:lpstr>
      <vt:lpstr>Menlo</vt:lpstr>
      <vt:lpstr>Symbol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Marlene Rietz</cp:lastModifiedBy>
  <cp:revision>1</cp:revision>
  <dcterms:modified xsi:type="dcterms:W3CDTF">2026-09-18T10:16:48Z</dcterms:modified>
  <dc:language>en-US</dc:language>
</cp:coreProperties>
</file>